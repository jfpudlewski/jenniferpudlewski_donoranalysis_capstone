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Lst>
  <p:notesMasterIdLst>
    <p:notesMasterId r:id="rId15"/>
  </p:notesMasterIdLst>
  <p:handoutMasterIdLst>
    <p:handoutMasterId r:id="rId16"/>
  </p:handoutMasterIdLst>
  <p:sldIdLst>
    <p:sldId id="256" r:id="rId5"/>
    <p:sldId id="257" r:id="rId6"/>
    <p:sldId id="330" r:id="rId7"/>
    <p:sldId id="305" r:id="rId8"/>
    <p:sldId id="339" r:id="rId9"/>
    <p:sldId id="340" r:id="rId10"/>
    <p:sldId id="343" r:id="rId11"/>
    <p:sldId id="344" r:id="rId12"/>
    <p:sldId id="345" r:id="rId13"/>
    <p:sldId id="34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144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388" autoAdjust="0"/>
    <p:restoredTop sz="96286" autoAdjust="0"/>
  </p:normalViewPr>
  <p:slideViewPr>
    <p:cSldViewPr snapToGrid="0">
      <p:cViewPr varScale="1">
        <p:scale>
          <a:sx n="70" d="100"/>
          <a:sy n="70" d="100"/>
        </p:scale>
        <p:origin x="200" y="1304"/>
      </p:cViewPr>
      <p:guideLst>
        <p:guide orient="horz" pos="2160"/>
        <p:guide pos="3840"/>
      </p:guideLst>
    </p:cSldViewPr>
  </p:slideViewPr>
  <p:outlineViewPr>
    <p:cViewPr>
      <p:scale>
        <a:sx n="33" d="100"/>
        <a:sy n="33" d="100"/>
      </p:scale>
      <p:origin x="0" y="0"/>
    </p:cViewPr>
  </p:outlineViewPr>
  <p:notesTextViewPr>
    <p:cViewPr>
      <p:scale>
        <a:sx n="1" d="1"/>
        <a:sy n="1" d="1"/>
      </p:scale>
      <p:origin x="0" y="-496"/>
    </p:cViewPr>
  </p:notesTextViewPr>
  <p:sorterViewPr>
    <p:cViewPr varScale="1">
      <p:scale>
        <a:sx n="100" d="100"/>
        <a:sy n="100" d="100"/>
      </p:scale>
      <p:origin x="0" y="0"/>
    </p:cViewPr>
  </p:sorterViewPr>
  <p:notesViewPr>
    <p:cSldViewPr snapToGrid="0">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47A63F-9D06-479D-A04D-717692D432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1F70DC-6EDE-457C-B55A-39AC7DE41A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7C06C4-C5A6-48FB-97F5-B20A44F857E9}" type="datetimeFigureOut">
              <a:rPr lang="en-US" smtClean="0"/>
              <a:t>11/1/25</a:t>
            </a:fld>
            <a:endParaRPr lang="en-US"/>
          </a:p>
        </p:txBody>
      </p:sp>
      <p:sp>
        <p:nvSpPr>
          <p:cNvPr id="4" name="Footer Placeholder 3">
            <a:extLst>
              <a:ext uri="{FF2B5EF4-FFF2-40B4-BE49-F238E27FC236}">
                <a16:creationId xmlns:a16="http://schemas.microsoft.com/office/drawing/2014/main" id="{146987CF-42F5-4BB0-AD0D-1D64C35944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368FB4-296C-4F8C-BFA3-D7C3AD617B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55657-0A12-495F-9FFA-D8F7554E7C39}" type="slidenum">
              <a:rPr lang="en-US" smtClean="0"/>
              <a:t>‹#›</a:t>
            </a:fld>
            <a:endParaRPr lang="en-US"/>
          </a:p>
        </p:txBody>
      </p:sp>
    </p:spTree>
    <p:extLst>
      <p:ext uri="{BB962C8B-B14F-4D97-AF65-F5344CB8AC3E}">
        <p14:creationId xmlns:p14="http://schemas.microsoft.com/office/powerpoint/2010/main" val="1766432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2B2CC-0155-4E5E-A890-531D58ADF5B2}" type="datetimeFigureOut">
              <a:rPr lang="en-US" smtClean="0"/>
              <a:t>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80FBB-F712-42E7-8C2F-226D98798B3F}" type="slidenum">
              <a:rPr lang="en-US" smtClean="0"/>
              <a:t>‹#›</a:t>
            </a:fld>
            <a:endParaRPr lang="en-US"/>
          </a:p>
        </p:txBody>
      </p:sp>
    </p:spTree>
    <p:extLst>
      <p:ext uri="{BB962C8B-B14F-4D97-AF65-F5344CB8AC3E}">
        <p14:creationId xmlns:p14="http://schemas.microsoft.com/office/powerpoint/2010/main" val="256715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and thank you for joining me today. My name is Jenny Pudlewski, and I’m excited to share my Capstone Project titled </a:t>
            </a:r>
            <a:r>
              <a:rPr lang="en-US" i="1" dirty="0"/>
              <a:t>Predictive Donor Modeling for the Colorado Mesa University Foundation.</a:t>
            </a:r>
            <a:r>
              <a:rPr lang="en-US" dirty="0"/>
              <a:t> This project uses data analytics to help the Foundation better understand and predict recurring donor behavior using R programming. The findings demonstrate how data-driven insights can strengthen donor relationships and guide more effective stewardship strategies.</a:t>
            </a:r>
          </a:p>
        </p:txBody>
      </p:sp>
      <p:sp>
        <p:nvSpPr>
          <p:cNvPr id="4" name="Slide Number Placeholder 3"/>
          <p:cNvSpPr>
            <a:spLocks noGrp="1"/>
          </p:cNvSpPr>
          <p:nvPr>
            <p:ph type="sldNum" sz="quarter" idx="5"/>
          </p:nvPr>
        </p:nvSpPr>
        <p:spPr/>
        <p:txBody>
          <a:bodyPr/>
          <a:lstStyle/>
          <a:p>
            <a:fld id="{E2780FBB-F712-42E7-8C2F-226D98798B3F}" type="slidenum">
              <a:rPr lang="en-US" smtClean="0"/>
              <a:t>1</a:t>
            </a:fld>
            <a:endParaRPr lang="en-US"/>
          </a:p>
        </p:txBody>
      </p:sp>
    </p:spTree>
    <p:extLst>
      <p:ext uri="{BB962C8B-B14F-4D97-AF65-F5344CB8AC3E}">
        <p14:creationId xmlns:p14="http://schemas.microsoft.com/office/powerpoint/2010/main" val="1453457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analyzes ten years of giving history from the Colorado Mesa University Foundation. The main goal was to identify what factors influence whether a donor gives again. Using logistic regression and random forest models in R, I was able to test how donor behavior patterns predict recurrence. The project builds on previous research showing that donor loyalty is shaped by consistent engagement and giving patterns (Bekkers &amp; </a:t>
            </a:r>
            <a:r>
              <a:rPr lang="en-US" dirty="0" err="1"/>
              <a:t>Wiepking</a:t>
            </a:r>
            <a:r>
              <a:rPr lang="en-US" dirty="0"/>
              <a:t>, 2011; Sargeant &amp; Woodliffe, 2007).</a:t>
            </a:r>
          </a:p>
        </p:txBody>
      </p:sp>
      <p:sp>
        <p:nvSpPr>
          <p:cNvPr id="4" name="Slide Number Placeholder 3"/>
          <p:cNvSpPr>
            <a:spLocks noGrp="1"/>
          </p:cNvSpPr>
          <p:nvPr>
            <p:ph type="sldNum" sz="quarter" idx="5"/>
          </p:nvPr>
        </p:nvSpPr>
        <p:spPr/>
        <p:txBody>
          <a:bodyPr/>
          <a:lstStyle/>
          <a:p>
            <a:fld id="{E2780FBB-F712-42E7-8C2F-226D98798B3F}" type="slidenum">
              <a:rPr lang="en-US" smtClean="0"/>
              <a:t>2</a:t>
            </a:fld>
            <a:endParaRPr lang="en-US"/>
          </a:p>
        </p:txBody>
      </p:sp>
    </p:spTree>
    <p:extLst>
      <p:ext uri="{BB962C8B-B14F-4D97-AF65-F5344CB8AC3E}">
        <p14:creationId xmlns:p14="http://schemas.microsoft.com/office/powerpoint/2010/main" val="2946400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of this project were straightforward. First, to identify key predictors of recurring donor behavior using quantitative data. Second, to evaluate model performance using R-based analytics. Third, to ensure that ethical standards and data transparency guided every step of the process. And finally, to provide insights that can support the Foundation’s long-term donor retention strategy. This aligns with research suggesting that sustained engagement and personalized stewardship are critical for donor loyalty (Sargeant, Shang, &amp; Hudson, 2010; </a:t>
            </a:r>
            <a:r>
              <a:rPr lang="en-US" dirty="0" err="1"/>
              <a:t>Cozzoli</a:t>
            </a:r>
            <a:r>
              <a:rPr lang="en-US" dirty="0"/>
              <a:t>, </a:t>
            </a:r>
            <a:r>
              <a:rPr lang="en-US" dirty="0" err="1"/>
              <a:t>Spelta</a:t>
            </a:r>
            <a:r>
              <a:rPr lang="en-US" dirty="0"/>
              <a:t>, &amp; Russo, 2022).</a:t>
            </a:r>
          </a:p>
        </p:txBody>
      </p:sp>
      <p:sp>
        <p:nvSpPr>
          <p:cNvPr id="4" name="Slide Number Placeholder 3"/>
          <p:cNvSpPr>
            <a:spLocks noGrp="1"/>
          </p:cNvSpPr>
          <p:nvPr>
            <p:ph type="sldNum" sz="quarter" idx="5"/>
          </p:nvPr>
        </p:nvSpPr>
        <p:spPr/>
        <p:txBody>
          <a:bodyPr/>
          <a:lstStyle/>
          <a:p>
            <a:fld id="{E2780FBB-F712-42E7-8C2F-226D98798B3F}" type="slidenum">
              <a:rPr lang="en-US" smtClean="0"/>
              <a:t>3</a:t>
            </a:fld>
            <a:endParaRPr lang="en-US"/>
          </a:p>
        </p:txBody>
      </p:sp>
    </p:spTree>
    <p:extLst>
      <p:ext uri="{BB962C8B-B14F-4D97-AF65-F5344CB8AC3E}">
        <p14:creationId xmlns:p14="http://schemas.microsoft.com/office/powerpoint/2010/main" val="3057234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includes ten full years of giving records from the Colorado Mesa University Foundation. Importantly, all personal identifiers were removed to protect donor privacy. The data preparation process included cleaning, normalization, and transformation in R. Once ready, I conducted descriptive analysis and correlation testing before applying logistic regression and random forest models. This approach followed the structured research methodology outlined by Polonsky and Waller (2018) and was designed to produce both ethical and replicable results (Williams &amp; Nguyen, 2021).</a:t>
            </a:r>
            <a:br>
              <a:rPr lang="en-US" dirty="0"/>
            </a:br>
            <a:r>
              <a:rPr lang="en-US" dirty="0"/>
              <a:t>As shown here, this figure represents an overview of the dataset and summary statistics.</a:t>
            </a:r>
          </a:p>
        </p:txBody>
      </p:sp>
      <p:sp>
        <p:nvSpPr>
          <p:cNvPr id="4" name="Slide Number Placeholder 3"/>
          <p:cNvSpPr>
            <a:spLocks noGrp="1"/>
          </p:cNvSpPr>
          <p:nvPr>
            <p:ph type="sldNum" sz="quarter" idx="5"/>
          </p:nvPr>
        </p:nvSpPr>
        <p:spPr/>
        <p:txBody>
          <a:bodyPr/>
          <a:lstStyle/>
          <a:p>
            <a:fld id="{E2780FBB-F712-42E7-8C2F-226D98798B3F}" type="slidenum">
              <a:rPr lang="en-US" smtClean="0"/>
              <a:t>4</a:t>
            </a:fld>
            <a:endParaRPr lang="en-US"/>
          </a:p>
        </p:txBody>
      </p:sp>
    </p:spTree>
    <p:extLst>
      <p:ext uri="{BB962C8B-B14F-4D97-AF65-F5344CB8AC3E}">
        <p14:creationId xmlns:p14="http://schemas.microsoft.com/office/powerpoint/2010/main" val="3816064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logistic regression model was built using 13 predictors, including total gift amounts, giving streaks, and multi-year recognition totals. The model performed extremely well, achieving near-perfect classification accuracy. The two most significant predictors were the donor’s Current Giving Streak and their Recognition Gift Total Last Ten Years. These findings confirm that consistent engagement and long-term giving behavior are strong indicators of donor loyalty (Zhang &amp; Ghosh, 2020; Williams &amp; Nguyen, 2021).</a:t>
            </a:r>
            <a:br>
              <a:rPr lang="en-US" dirty="0"/>
            </a:br>
            <a:r>
              <a:rPr lang="en-US" dirty="0"/>
              <a:t>You can see in this figure how the regression summary shows clear separation between recurring and one-time donors.</a:t>
            </a:r>
          </a:p>
        </p:txBody>
      </p:sp>
      <p:sp>
        <p:nvSpPr>
          <p:cNvPr id="4" name="Slide Number Placeholder 3"/>
          <p:cNvSpPr>
            <a:spLocks noGrp="1"/>
          </p:cNvSpPr>
          <p:nvPr>
            <p:ph type="sldNum" sz="quarter" idx="5"/>
          </p:nvPr>
        </p:nvSpPr>
        <p:spPr/>
        <p:txBody>
          <a:bodyPr/>
          <a:lstStyle/>
          <a:p>
            <a:fld id="{E2780FBB-F712-42E7-8C2F-226D98798B3F}" type="slidenum">
              <a:rPr lang="en-US" smtClean="0"/>
              <a:t>5</a:t>
            </a:fld>
            <a:endParaRPr lang="en-US"/>
          </a:p>
        </p:txBody>
      </p:sp>
    </p:spTree>
    <p:extLst>
      <p:ext uri="{BB962C8B-B14F-4D97-AF65-F5344CB8AC3E}">
        <p14:creationId xmlns:p14="http://schemas.microsoft.com/office/powerpoint/2010/main" val="170202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used a random forest model to capture more complex, nonlinear relationships in the data. Like the logistic regression model, it confirmed that the Current Giving Streak and Recognition Gift Total Last Ten Years were the strongest predictors of recurrence. This model achieved perfect accuracy on both training and test datasets, which demonstrates the stability of the behavioral patterns found in the Foundation’s data. Although the random forest is less interpretable, it provides higher precision and robustness for prediction (Rudin, 2019; Hastie, </a:t>
            </a:r>
            <a:r>
              <a:rPr lang="en-US" dirty="0" err="1"/>
              <a:t>Tibshirani</a:t>
            </a:r>
            <a:r>
              <a:rPr lang="en-US" dirty="0"/>
              <a:t>, &amp; Friedman, 2021).</a:t>
            </a:r>
            <a:br>
              <a:rPr lang="en-US" dirty="0"/>
            </a:br>
            <a:r>
              <a:rPr lang="en-US" dirty="0"/>
              <a:t>Here, you’ll see the confusion matrix for predicting with the random forest model.</a:t>
            </a:r>
          </a:p>
        </p:txBody>
      </p:sp>
      <p:sp>
        <p:nvSpPr>
          <p:cNvPr id="4" name="Slide Number Placeholder 3"/>
          <p:cNvSpPr>
            <a:spLocks noGrp="1"/>
          </p:cNvSpPr>
          <p:nvPr>
            <p:ph type="sldNum" sz="quarter" idx="5"/>
          </p:nvPr>
        </p:nvSpPr>
        <p:spPr/>
        <p:txBody>
          <a:bodyPr/>
          <a:lstStyle/>
          <a:p>
            <a:fld id="{E2780FBB-F712-42E7-8C2F-226D98798B3F}" type="slidenum">
              <a:rPr lang="en-US" smtClean="0"/>
              <a:t>6</a:t>
            </a:fld>
            <a:endParaRPr lang="en-US"/>
          </a:p>
        </p:txBody>
      </p:sp>
    </p:spTree>
    <p:extLst>
      <p:ext uri="{BB962C8B-B14F-4D97-AF65-F5344CB8AC3E}">
        <p14:creationId xmlns:p14="http://schemas.microsoft.com/office/powerpoint/2010/main" val="3254792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57203-3924-2542-23B1-D338141E1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E2BF4-BC03-8942-6FE2-688CFD0A07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FECA0-A047-50DD-4B0F-62025B644121}"/>
              </a:ext>
            </a:extLst>
          </p:cNvPr>
          <p:cNvSpPr>
            <a:spLocks noGrp="1"/>
          </p:cNvSpPr>
          <p:nvPr>
            <p:ph type="body" idx="1"/>
          </p:nvPr>
        </p:nvSpPr>
        <p:spPr/>
        <p:txBody>
          <a:bodyPr/>
          <a:lstStyle/>
          <a:p>
            <a:r>
              <a:rPr lang="en-US" dirty="0"/>
              <a:t>Both models tell the same story, donor recurrence is highly predictable. The ROC curves and AUC scores for each model indicate near-perfect classification performance. This consistency between the logistic regression and random forest builds confidence that the signals are real, not just statistical noise. The models can therefore be used together: logistic regression for interpretation, and random forest for prediction and ranking (Williams &amp; Nguyen, 2021; Shmueli et al., 2020).</a:t>
            </a:r>
          </a:p>
        </p:txBody>
      </p:sp>
      <p:sp>
        <p:nvSpPr>
          <p:cNvPr id="4" name="Slide Number Placeholder 3">
            <a:extLst>
              <a:ext uri="{FF2B5EF4-FFF2-40B4-BE49-F238E27FC236}">
                <a16:creationId xmlns:a16="http://schemas.microsoft.com/office/drawing/2014/main" id="{EB460171-CFF4-5246-5E43-5602FC03E741}"/>
              </a:ext>
            </a:extLst>
          </p:cNvPr>
          <p:cNvSpPr>
            <a:spLocks noGrp="1"/>
          </p:cNvSpPr>
          <p:nvPr>
            <p:ph type="sldNum" sz="quarter" idx="5"/>
          </p:nvPr>
        </p:nvSpPr>
        <p:spPr/>
        <p:txBody>
          <a:bodyPr/>
          <a:lstStyle/>
          <a:p>
            <a:fld id="{E2780FBB-F712-42E7-8C2F-226D98798B3F}" type="slidenum">
              <a:rPr lang="en-US" smtClean="0"/>
              <a:t>7</a:t>
            </a:fld>
            <a:endParaRPr lang="en-US"/>
          </a:p>
        </p:txBody>
      </p:sp>
    </p:spTree>
    <p:extLst>
      <p:ext uri="{BB962C8B-B14F-4D97-AF65-F5344CB8AC3E}">
        <p14:creationId xmlns:p14="http://schemas.microsoft.com/office/powerpoint/2010/main" val="108064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78CD8-4ADA-76C8-2490-0DAC7322E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9C888-6BDE-E9CE-0798-5E9E2D35F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C7163-7B8B-E5AB-4F30-1BFF73E1718F}"/>
              </a:ext>
            </a:extLst>
          </p:cNvPr>
          <p:cNvSpPr>
            <a:spLocks noGrp="1"/>
          </p:cNvSpPr>
          <p:nvPr>
            <p:ph type="body" idx="1"/>
          </p:nvPr>
        </p:nvSpPr>
        <p:spPr/>
        <p:txBody>
          <a:bodyPr/>
          <a:lstStyle/>
          <a:p>
            <a:r>
              <a:rPr lang="en-US" dirty="0"/>
              <a:t>Because this project involved real Foundation data, ethical handling was essential. All identifying information was removed before analysis, and no donor names or addresses were used. I followed the Association of Fundraising Professionals’ </a:t>
            </a:r>
            <a:r>
              <a:rPr lang="en-US" i="1" dirty="0"/>
              <a:t>Code of Ethical Standards</a:t>
            </a:r>
            <a:r>
              <a:rPr lang="en-US" dirty="0"/>
              <a:t> (2023) to ensure that the analysis supported institutional goals without compromising privacy. The project also aligns with Breeze’s (2017) discussion of transparency and accountability in nonprofit data management. Using R ensured the process remained reproducible, auditable, and secure.</a:t>
            </a:r>
          </a:p>
        </p:txBody>
      </p:sp>
      <p:sp>
        <p:nvSpPr>
          <p:cNvPr id="4" name="Slide Number Placeholder 3">
            <a:extLst>
              <a:ext uri="{FF2B5EF4-FFF2-40B4-BE49-F238E27FC236}">
                <a16:creationId xmlns:a16="http://schemas.microsoft.com/office/drawing/2014/main" id="{7668D36C-F734-1998-427B-A87C50478C90}"/>
              </a:ext>
            </a:extLst>
          </p:cNvPr>
          <p:cNvSpPr>
            <a:spLocks noGrp="1"/>
          </p:cNvSpPr>
          <p:nvPr>
            <p:ph type="sldNum" sz="quarter" idx="5"/>
          </p:nvPr>
        </p:nvSpPr>
        <p:spPr/>
        <p:txBody>
          <a:bodyPr/>
          <a:lstStyle/>
          <a:p>
            <a:fld id="{E2780FBB-F712-42E7-8C2F-226D98798B3F}" type="slidenum">
              <a:rPr lang="en-US" smtClean="0"/>
              <a:t>8</a:t>
            </a:fld>
            <a:endParaRPr lang="en-US"/>
          </a:p>
        </p:txBody>
      </p:sp>
    </p:spTree>
    <p:extLst>
      <p:ext uri="{BB962C8B-B14F-4D97-AF65-F5344CB8AC3E}">
        <p14:creationId xmlns:p14="http://schemas.microsoft.com/office/powerpoint/2010/main" val="280964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858C6-3169-E52C-5F9E-17FC53126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A1BA1-FBEF-1CB8-6E78-0798E666E2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4F291E-2009-6463-F8BC-1363F4AFDBF5}"/>
              </a:ext>
            </a:extLst>
          </p:cNvPr>
          <p:cNvSpPr>
            <a:spLocks noGrp="1"/>
          </p:cNvSpPr>
          <p:nvPr>
            <p:ph type="body" idx="1"/>
          </p:nvPr>
        </p:nvSpPr>
        <p:spPr/>
        <p:txBody>
          <a:bodyPr/>
          <a:lstStyle/>
          <a:p>
            <a:r>
              <a:rPr lang="en-US" dirty="0"/>
              <a:t>Based on the results, I recommend that the Colorado Mesa University Foundation:</a:t>
            </a:r>
          </a:p>
          <a:p>
            <a:r>
              <a:rPr lang="en-US" dirty="0"/>
              <a:t>Continue structured donor data collection to maintain data quality.</a:t>
            </a:r>
          </a:p>
          <a:p>
            <a:r>
              <a:rPr lang="en-US" dirty="0"/>
              <a:t>Regularly validate predictive models with new datasets to ensure generalizability.</a:t>
            </a:r>
          </a:p>
          <a:p>
            <a:r>
              <a:rPr lang="en-US" dirty="0"/>
              <a:t>Use model results to guide targeted stewardship campaigns that prioritize recurring donors.</a:t>
            </a:r>
          </a:p>
          <a:p>
            <a:r>
              <a:rPr lang="en-US" dirty="0"/>
              <a:t>Maintain transparency and ethical data handling in all analytics initiatives.</a:t>
            </a:r>
          </a:p>
          <a:p>
            <a:r>
              <a:rPr lang="en-US" dirty="0"/>
              <a:t>These steps will help the Foundation apply data science effectively while maintaining trust and accountability (Sargeant &amp; Woodliffe, 2007; </a:t>
            </a:r>
            <a:r>
              <a:rPr lang="en-US" dirty="0" err="1"/>
              <a:t>Cozzoli</a:t>
            </a:r>
            <a:r>
              <a:rPr lang="en-US" dirty="0"/>
              <a:t> et al., 2022).</a:t>
            </a:r>
          </a:p>
        </p:txBody>
      </p:sp>
      <p:sp>
        <p:nvSpPr>
          <p:cNvPr id="4" name="Slide Number Placeholder 3">
            <a:extLst>
              <a:ext uri="{FF2B5EF4-FFF2-40B4-BE49-F238E27FC236}">
                <a16:creationId xmlns:a16="http://schemas.microsoft.com/office/drawing/2014/main" id="{449686E4-FF68-F133-1B64-B8FFEC5BF9C0}"/>
              </a:ext>
            </a:extLst>
          </p:cNvPr>
          <p:cNvSpPr>
            <a:spLocks noGrp="1"/>
          </p:cNvSpPr>
          <p:nvPr>
            <p:ph type="sldNum" sz="quarter" idx="5"/>
          </p:nvPr>
        </p:nvSpPr>
        <p:spPr/>
        <p:txBody>
          <a:bodyPr/>
          <a:lstStyle/>
          <a:p>
            <a:fld id="{E2780FBB-F712-42E7-8C2F-226D98798B3F}" type="slidenum">
              <a:rPr lang="en-US" smtClean="0"/>
              <a:t>9</a:t>
            </a:fld>
            <a:endParaRPr lang="en-US"/>
          </a:p>
        </p:txBody>
      </p:sp>
    </p:spTree>
    <p:extLst>
      <p:ext uri="{BB962C8B-B14F-4D97-AF65-F5344CB8AC3E}">
        <p14:creationId xmlns:p14="http://schemas.microsoft.com/office/powerpoint/2010/main" val="2820727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6FB55-E33D-B591-632B-BF422B4BA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702A7-2935-78A8-89EB-BD0D181AFF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AC8DF-A573-5C52-43D5-191376D1B688}"/>
              </a:ext>
            </a:extLst>
          </p:cNvPr>
          <p:cNvSpPr>
            <a:spLocks noGrp="1"/>
          </p:cNvSpPr>
          <p:nvPr>
            <p:ph type="body" idx="1"/>
          </p:nvPr>
        </p:nvSpPr>
        <p:spPr/>
        <p:txBody>
          <a:bodyPr/>
          <a:lstStyle/>
          <a:p>
            <a:r>
              <a:rPr lang="en-US" dirty="0"/>
              <a:t>The research supporting this project draws from a range of scholarly sources in data analytics and nonprofit fundraising, including Bekkers and </a:t>
            </a:r>
            <a:r>
              <a:rPr lang="en-US" dirty="0" err="1"/>
              <a:t>Wiepking</a:t>
            </a:r>
            <a:r>
              <a:rPr lang="en-US" dirty="0"/>
              <a:t> (2011), Rudin (2019), and Williams and Nguyen (2021). The full list of references is included here in APA format.</a:t>
            </a:r>
          </a:p>
          <a:p>
            <a:r>
              <a:rPr lang="en-US" dirty="0"/>
              <a:t>My complete project, including R scripts, model outputs, </a:t>
            </a:r>
            <a:r>
              <a:rPr lang="en-US"/>
              <a:t>and figures, is </a:t>
            </a:r>
            <a:r>
              <a:rPr lang="en-US" dirty="0"/>
              <a:t>available on GitHub for review. This repository reflects the same commitment to transparency that guided the analysis itself.</a:t>
            </a:r>
          </a:p>
        </p:txBody>
      </p:sp>
      <p:sp>
        <p:nvSpPr>
          <p:cNvPr id="4" name="Slide Number Placeholder 3">
            <a:extLst>
              <a:ext uri="{FF2B5EF4-FFF2-40B4-BE49-F238E27FC236}">
                <a16:creationId xmlns:a16="http://schemas.microsoft.com/office/drawing/2014/main" id="{83E62B5C-6751-2193-53CD-AEF3EEC6111C}"/>
              </a:ext>
            </a:extLst>
          </p:cNvPr>
          <p:cNvSpPr>
            <a:spLocks noGrp="1"/>
          </p:cNvSpPr>
          <p:nvPr>
            <p:ph type="sldNum" sz="quarter" idx="5"/>
          </p:nvPr>
        </p:nvSpPr>
        <p:spPr/>
        <p:txBody>
          <a:bodyPr/>
          <a:lstStyle/>
          <a:p>
            <a:fld id="{E2780FBB-F712-42E7-8C2F-226D98798B3F}" type="slidenum">
              <a:rPr lang="en-US" smtClean="0"/>
              <a:t>10</a:t>
            </a:fld>
            <a:endParaRPr lang="en-US"/>
          </a:p>
        </p:txBody>
      </p:sp>
    </p:spTree>
    <p:extLst>
      <p:ext uri="{BB962C8B-B14F-4D97-AF65-F5344CB8AC3E}">
        <p14:creationId xmlns:p14="http://schemas.microsoft.com/office/powerpoint/2010/main" val="4546418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3FB0C32-F044-4939-92E4-8BA39B7A391A}"/>
              </a:ext>
              <a:ext uri="{C183D7F6-B498-43B3-948B-1728B52AA6E4}">
                <adec:decorative xmlns:adec="http://schemas.microsoft.com/office/drawing/2017/decorative" val="1"/>
              </a:ext>
            </a:extLst>
          </p:cNvPr>
          <p:cNvSpPr/>
          <p:nvPr userDrawn="1"/>
        </p:nvSpPr>
        <p:spPr>
          <a:xfrm>
            <a:off x="3050" y="-66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84BE8A-3E34-4967-9E7C-13EC8F6A990A}"/>
              </a:ext>
              <a:ext uri="{C183D7F6-B498-43B3-948B-1728B52AA6E4}">
                <adec:decorative xmlns:adec="http://schemas.microsoft.com/office/drawing/2017/decorative" val="1"/>
              </a:ext>
            </a:extLst>
          </p:cNvPr>
          <p:cNvSpPr/>
          <p:nvPr userDrawn="1"/>
        </p:nvSpPr>
        <p:spPr>
          <a:xfrm>
            <a:off x="3050" y="-663"/>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BFF676-EC35-4FFD-8894-CA4F2830700A}"/>
              </a:ext>
              <a:ext uri="{C183D7F6-B498-43B3-948B-1728B52AA6E4}">
                <adec:decorative xmlns:adec="http://schemas.microsoft.com/office/drawing/2017/decorative" val="1"/>
              </a:ext>
            </a:extLst>
          </p:cNvPr>
          <p:cNvSpPr/>
          <p:nvPr userDrawn="1"/>
        </p:nvSpPr>
        <p:spPr>
          <a:xfrm>
            <a:off x="3050" y="0"/>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2DA1557-E095-4C82-B659-3AF550080BB1}"/>
              </a:ext>
              <a:ext uri="{C183D7F6-B498-43B3-948B-1728B52AA6E4}">
                <adec:decorative xmlns:adec="http://schemas.microsoft.com/office/drawing/2017/decorative" val="1"/>
              </a:ext>
            </a:extLst>
          </p:cNvPr>
          <p:cNvSpPr/>
          <p:nvPr userDrawn="1"/>
        </p:nvSpPr>
        <p:spPr>
          <a:xfrm rot="16200000">
            <a:off x="2746250" y="-663"/>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F34E5EF-94D7-4AE0-BDD1-81A3ECDE614C}"/>
              </a:ext>
              <a:ext uri="{C183D7F6-B498-43B3-948B-1728B52AA6E4}">
                <adec:decorative xmlns:adec="http://schemas.microsoft.com/office/drawing/2017/decorative" val="1"/>
              </a:ext>
            </a:extLst>
          </p:cNvPr>
          <p:cNvSpPr/>
          <p:nvPr userDrawn="1"/>
        </p:nvSpPr>
        <p:spPr>
          <a:xfrm rot="16200000">
            <a:off x="77040" y="1193411"/>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829E57E-3199-4AAA-B2D5-F93264FDA0B5}"/>
              </a:ext>
              <a:ext uri="{C183D7F6-B498-43B3-948B-1728B52AA6E4}">
                <adec:decorative xmlns:adec="http://schemas.microsoft.com/office/drawing/2017/decorative" val="1"/>
              </a:ext>
            </a:extLst>
          </p:cNvPr>
          <p:cNvSpPr/>
          <p:nvPr userDrawn="1"/>
        </p:nvSpPr>
        <p:spPr>
          <a:xfrm rot="16200000">
            <a:off x="6442672" y="193606"/>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Tag=CustomerPhoto&#10;Crop=1&#10;Align=N/A">
            <a:extLst>
              <a:ext uri="{FF2B5EF4-FFF2-40B4-BE49-F238E27FC236}">
                <a16:creationId xmlns:a16="http://schemas.microsoft.com/office/drawing/2014/main" id="{8A791822-0971-4E61-A5E4-9AAD258F58E3}"/>
              </a:ext>
            </a:extLst>
          </p:cNvPr>
          <p:cNvPicPr>
            <a:picLocks/>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3048" y="-663"/>
            <a:ext cx="12188952" cy="6858000"/>
          </a:xfrm>
          <a:prstGeom prst="rect">
            <a:avLst/>
          </a:prstGeom>
        </p:spPr>
      </p:pic>
      <p:sp>
        <p:nvSpPr>
          <p:cNvPr id="18" name="Title 1">
            <a:extLst>
              <a:ext uri="{FF2B5EF4-FFF2-40B4-BE49-F238E27FC236}">
                <a16:creationId xmlns:a16="http://schemas.microsoft.com/office/drawing/2014/main" id="{B86D7D99-F789-4EDA-861D-B6B994F05F1D}"/>
              </a:ext>
            </a:extLst>
          </p:cNvPr>
          <p:cNvSpPr>
            <a:spLocks noGrp="1"/>
          </p:cNvSpPr>
          <p:nvPr>
            <p:ph type="ctrTitle"/>
          </p:nvPr>
        </p:nvSpPr>
        <p:spPr>
          <a:xfrm>
            <a:off x="1527050" y="1121700"/>
            <a:ext cx="9144000" cy="2387600"/>
          </a:xfrm>
        </p:spPr>
        <p:txBody>
          <a:bodyPr/>
          <a:lstStyle>
            <a:lvl1pPr algn="ctr">
              <a:defRPr>
                <a:solidFill>
                  <a:schemeClr val="bg1"/>
                </a:solidFill>
              </a:defRPr>
            </a:lvl1pPr>
          </a:lstStyle>
          <a:p>
            <a:endParaRPr lang="en-US" dirty="0">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endParaRPr>
          </a:p>
        </p:txBody>
      </p:sp>
      <p:sp>
        <p:nvSpPr>
          <p:cNvPr id="20" name="Text Placeholder 12">
            <a:extLst>
              <a:ext uri="{FF2B5EF4-FFF2-40B4-BE49-F238E27FC236}">
                <a16:creationId xmlns:a16="http://schemas.microsoft.com/office/drawing/2014/main" id="{2B39487B-EA73-4D7B-93AA-D63B49F4DA7F}"/>
              </a:ext>
            </a:extLst>
          </p:cNvPr>
          <p:cNvSpPr>
            <a:spLocks noGrp="1"/>
          </p:cNvSpPr>
          <p:nvPr>
            <p:ph type="body" sz="quarter" idx="15"/>
          </p:nvPr>
        </p:nvSpPr>
        <p:spPr>
          <a:xfrm>
            <a:off x="1527050" y="3600450"/>
            <a:ext cx="9144000" cy="2451100"/>
          </a:xfrm>
        </p:spPr>
        <p:txBody>
          <a:bodyPr>
            <a:normAutofit/>
          </a:bodyPr>
          <a:lstStyle>
            <a:lvl1pPr marL="0" indent="0" algn="ctr">
              <a:buNone/>
              <a:defRPr sz="2800">
                <a:solidFill>
                  <a:schemeClr val="bg1"/>
                </a:solidFill>
                <a:effectLst/>
                <a:latin typeface="+mn-lt"/>
              </a:defRPr>
            </a:lvl1pPr>
          </a:lstStyle>
          <a:p>
            <a:pPr lvl="0"/>
            <a:r>
              <a:rPr lang="en-US" dirty="0"/>
              <a:t>Click to edit Master text styles</a:t>
            </a:r>
          </a:p>
        </p:txBody>
      </p:sp>
    </p:spTree>
    <p:extLst>
      <p:ext uri="{BB962C8B-B14F-4D97-AF65-F5344CB8AC3E}">
        <p14:creationId xmlns:p14="http://schemas.microsoft.com/office/powerpoint/2010/main" val="1155544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F98AFCE-98D2-46C5-82A8-E45659B1769D}"/>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ame 11">
            <a:extLst>
              <a:ext uri="{FF2B5EF4-FFF2-40B4-BE49-F238E27FC236}">
                <a16:creationId xmlns:a16="http://schemas.microsoft.com/office/drawing/2014/main" id="{F69999FB-8585-40F0-990C-6A0BAD1C8081}"/>
              </a:ext>
              <a:ext uri="{C183D7F6-B498-43B3-948B-1728B52AA6E4}">
                <adec:decorative xmlns:adec="http://schemas.microsoft.com/office/drawing/2017/decorative" val="1"/>
              </a:ext>
            </a:extLst>
          </p:cNvPr>
          <p:cNvSpPr/>
          <p:nvPr userDrawn="1"/>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2768738E-7449-46C1-B7D3-844FE2BA7D35}"/>
              </a:ext>
            </a:extLst>
          </p:cNvPr>
          <p:cNvSpPr>
            <a:spLocks noGrp="1"/>
          </p:cNvSpPr>
          <p:nvPr>
            <p:ph type="title"/>
          </p:nvPr>
        </p:nvSpPr>
        <p:spPr>
          <a:xfrm>
            <a:off x="838200" y="914399"/>
            <a:ext cx="5992550" cy="2827422"/>
          </a:xfrm>
        </p:spPr>
        <p:txBody>
          <a:bodyPr anchor="t">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B0FF04F9-E792-4C19-9FD5-44800CEB2E89}"/>
              </a:ext>
            </a:extLst>
          </p:cNvPr>
          <p:cNvSpPr>
            <a:spLocks noGrp="1"/>
          </p:cNvSpPr>
          <p:nvPr>
            <p:ph idx="1"/>
          </p:nvPr>
        </p:nvSpPr>
        <p:spPr>
          <a:xfrm>
            <a:off x="6976085" y="914400"/>
            <a:ext cx="4377714" cy="2827422"/>
          </a:xfrm>
        </p:spPr>
        <p:txBody>
          <a:bodyPr anchor="t">
            <a:normAutofit/>
          </a:bodyPr>
          <a:lstStyle>
            <a:lvl1pPr marL="0" indent="0">
              <a:buNone/>
              <a:defRPr sz="2800"/>
            </a:lvl1pPr>
          </a:lstStyle>
          <a:p>
            <a:pPr marL="228600" indent="-228600"/>
            <a:endParaRPr lang="en-US" sz="1800" dirty="0">
              <a:solidFill>
                <a:schemeClr val="tx2">
                  <a:alpha val="60000"/>
                </a:schemeClr>
              </a:solidFill>
            </a:endParaRPr>
          </a:p>
        </p:txBody>
      </p:sp>
      <p:sp>
        <p:nvSpPr>
          <p:cNvPr id="14" name="Picture Placeholder 13">
            <a:extLst>
              <a:ext uri="{FF2B5EF4-FFF2-40B4-BE49-F238E27FC236}">
                <a16:creationId xmlns:a16="http://schemas.microsoft.com/office/drawing/2014/main" id="{5F2F9DF6-DFB9-44A8-B629-57F58893AD21}"/>
              </a:ext>
            </a:extLst>
          </p:cNvPr>
          <p:cNvSpPr>
            <a:spLocks noGrp="1"/>
          </p:cNvSpPr>
          <p:nvPr>
            <p:ph type="pic" sz="quarter" idx="13"/>
          </p:nvPr>
        </p:nvSpPr>
        <p:spPr>
          <a:xfrm>
            <a:off x="490538" y="4059936"/>
            <a:ext cx="2807208" cy="2322576"/>
          </a:xfrm>
          <a:solidFill>
            <a:schemeClr val="accent6"/>
          </a:solidFill>
        </p:spPr>
        <p:txBody>
          <a:bodyPr/>
          <a:lstStyle/>
          <a:p>
            <a:endParaRPr lang="en-US"/>
          </a:p>
        </p:txBody>
      </p:sp>
      <p:sp>
        <p:nvSpPr>
          <p:cNvPr id="15" name="Picture Placeholder 13">
            <a:extLst>
              <a:ext uri="{FF2B5EF4-FFF2-40B4-BE49-F238E27FC236}">
                <a16:creationId xmlns:a16="http://schemas.microsoft.com/office/drawing/2014/main" id="{927BC207-43FE-4B6A-AEBE-875B69CF9761}"/>
              </a:ext>
            </a:extLst>
          </p:cNvPr>
          <p:cNvSpPr>
            <a:spLocks noGrp="1"/>
          </p:cNvSpPr>
          <p:nvPr>
            <p:ph type="pic" sz="quarter" idx="14"/>
          </p:nvPr>
        </p:nvSpPr>
        <p:spPr>
          <a:xfrm>
            <a:off x="3291840" y="4059936"/>
            <a:ext cx="2807208" cy="2322576"/>
          </a:xfrm>
          <a:solidFill>
            <a:schemeClr val="accent6"/>
          </a:solidFill>
        </p:spPr>
        <p:txBody>
          <a:bodyPr/>
          <a:lstStyle/>
          <a:p>
            <a:endParaRPr lang="en-US"/>
          </a:p>
        </p:txBody>
      </p:sp>
      <p:sp>
        <p:nvSpPr>
          <p:cNvPr id="16" name="Picture Placeholder 13">
            <a:extLst>
              <a:ext uri="{FF2B5EF4-FFF2-40B4-BE49-F238E27FC236}">
                <a16:creationId xmlns:a16="http://schemas.microsoft.com/office/drawing/2014/main" id="{EBBF5499-9A70-4846-B98E-316EC17F9FCD}"/>
              </a:ext>
            </a:extLst>
          </p:cNvPr>
          <p:cNvSpPr>
            <a:spLocks noGrp="1"/>
          </p:cNvSpPr>
          <p:nvPr>
            <p:ph type="pic" sz="quarter" idx="15"/>
          </p:nvPr>
        </p:nvSpPr>
        <p:spPr>
          <a:xfrm>
            <a:off x="6099048" y="4059936"/>
            <a:ext cx="2807208" cy="2322576"/>
          </a:xfrm>
          <a:solidFill>
            <a:schemeClr val="accent6"/>
          </a:solidFill>
        </p:spPr>
        <p:txBody>
          <a:bodyPr/>
          <a:lstStyle/>
          <a:p>
            <a:endParaRPr lang="en-US"/>
          </a:p>
        </p:txBody>
      </p:sp>
      <p:sp>
        <p:nvSpPr>
          <p:cNvPr id="17" name="Picture Placeholder 13">
            <a:extLst>
              <a:ext uri="{FF2B5EF4-FFF2-40B4-BE49-F238E27FC236}">
                <a16:creationId xmlns:a16="http://schemas.microsoft.com/office/drawing/2014/main" id="{C7A79F30-D473-48F6-9AC2-286C7B70F3ED}"/>
              </a:ext>
            </a:extLst>
          </p:cNvPr>
          <p:cNvSpPr>
            <a:spLocks noGrp="1"/>
          </p:cNvSpPr>
          <p:nvPr>
            <p:ph type="pic" sz="quarter" idx="16"/>
          </p:nvPr>
        </p:nvSpPr>
        <p:spPr>
          <a:xfrm>
            <a:off x="8906256" y="4059936"/>
            <a:ext cx="2807208" cy="2322576"/>
          </a:xfrm>
          <a:solidFill>
            <a:schemeClr val="accent6"/>
          </a:solidFill>
        </p:spPr>
        <p:txBody>
          <a:bodyPr/>
          <a:lstStyle/>
          <a:p>
            <a:endParaRPr lang="en-US"/>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0991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910AFBC-7932-43F4-ABEA-C89B2698634B}"/>
              </a:ext>
            </a:extLst>
          </p:cNvPr>
          <p:cNvSpPr>
            <a:spLocks noGrp="1"/>
          </p:cNvSpPr>
          <p:nvPr>
            <p:ph type="title"/>
          </p:nvPr>
        </p:nvSpPr>
        <p:spPr>
          <a:xfrm>
            <a:off x="841249" y="857251"/>
            <a:ext cx="5914937" cy="2076450"/>
          </a:xfrm>
        </p:spPr>
        <p:txBody>
          <a:bodyPr anchor="b">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7" name="Content Placeholder 2">
            <a:extLst>
              <a:ext uri="{FF2B5EF4-FFF2-40B4-BE49-F238E27FC236}">
                <a16:creationId xmlns:a16="http://schemas.microsoft.com/office/drawing/2014/main" id="{1178A42D-5ED2-4AB6-BE4B-4109074320DF}"/>
              </a:ext>
            </a:extLst>
          </p:cNvPr>
          <p:cNvSpPr>
            <a:spLocks noGrp="1"/>
          </p:cNvSpPr>
          <p:nvPr>
            <p:ph idx="1"/>
          </p:nvPr>
        </p:nvSpPr>
        <p:spPr>
          <a:xfrm>
            <a:off x="841248" y="3190875"/>
            <a:ext cx="5914938" cy="2986087"/>
          </a:xfrm>
        </p:spPr>
        <p:txBody>
          <a:bodyPr>
            <a:noAutofit/>
          </a:bodyPr>
          <a:lstStyle>
            <a:lvl1pPr marL="0" indent="0">
              <a:lnSpc>
                <a:spcPct val="100000"/>
              </a:lnSpc>
              <a:buNone/>
              <a:defRPr sz="2000"/>
            </a:lvl1pPr>
          </a:lstStyle>
          <a:p>
            <a:pPr marL="228600" indent="-228600"/>
            <a:endParaRPr lang="en-US" sz="1800" dirty="0">
              <a:solidFill>
                <a:schemeClr val="tx2">
                  <a:alpha val="60000"/>
                </a:schemeClr>
              </a:solidFill>
            </a:endParaRPr>
          </a:p>
        </p:txBody>
      </p:sp>
      <p:sp>
        <p:nvSpPr>
          <p:cNvPr id="29" name="Date Placeholder 1">
            <a:extLst>
              <a:ext uri="{FF2B5EF4-FFF2-40B4-BE49-F238E27FC236}">
                <a16:creationId xmlns:a16="http://schemas.microsoft.com/office/drawing/2014/main" id="{4D9A7D07-2BA3-438D-972B-EA578370D50F}"/>
              </a:ext>
            </a:extLst>
          </p:cNvPr>
          <p:cNvSpPr>
            <a:spLocks noGrp="1"/>
          </p:cNvSpPr>
          <p:nvPr>
            <p:ph type="dt" sz="half" idx="10"/>
          </p:nvPr>
        </p:nvSpPr>
        <p:spPr>
          <a:xfrm>
            <a:off x="838200" y="6429375"/>
            <a:ext cx="2743200" cy="365125"/>
          </a:xfrm>
        </p:spPr>
        <p:txBody>
          <a:bodyPr/>
          <a:lstStyle>
            <a:lvl1pPr>
              <a:defRPr>
                <a:solidFill>
                  <a:schemeClr val="tx2">
                    <a:alpha val="60000"/>
                  </a:schemeClr>
                </a:solidFill>
              </a:defRPr>
            </a:lvl1pPr>
          </a:lstStyle>
          <a:p>
            <a:r>
              <a:rPr lang="en-US"/>
              <a:t>20xx</a:t>
            </a:r>
          </a:p>
        </p:txBody>
      </p:sp>
      <p:sp>
        <p:nvSpPr>
          <p:cNvPr id="24" name="Picture Placeholder 23">
            <a:extLst>
              <a:ext uri="{FF2B5EF4-FFF2-40B4-BE49-F238E27FC236}">
                <a16:creationId xmlns:a16="http://schemas.microsoft.com/office/drawing/2014/main" id="{C8720583-BC84-48EB-85BC-AE71214A30A5}"/>
              </a:ext>
            </a:extLst>
          </p:cNvPr>
          <p:cNvSpPr>
            <a:spLocks noGrp="1"/>
          </p:cNvSpPr>
          <p:nvPr>
            <p:ph type="pic" sz="quarter" idx="13"/>
          </p:nvPr>
        </p:nvSpPr>
        <p:spPr>
          <a:xfrm>
            <a:off x="7589520" y="0"/>
            <a:ext cx="4599432" cy="2286000"/>
          </a:xfrm>
          <a:solidFill>
            <a:schemeClr val="accent6"/>
          </a:solidFill>
        </p:spPr>
        <p:txBody>
          <a:bodyPr/>
          <a:lstStyle/>
          <a:p>
            <a:endParaRPr lang="en-US" dirty="0"/>
          </a:p>
        </p:txBody>
      </p:sp>
      <p:sp>
        <p:nvSpPr>
          <p:cNvPr id="25" name="Picture Placeholder 23">
            <a:extLst>
              <a:ext uri="{FF2B5EF4-FFF2-40B4-BE49-F238E27FC236}">
                <a16:creationId xmlns:a16="http://schemas.microsoft.com/office/drawing/2014/main" id="{C3F0A5CD-C47A-4CDF-BE99-75F3A81B18FB}"/>
              </a:ext>
            </a:extLst>
          </p:cNvPr>
          <p:cNvSpPr>
            <a:spLocks noGrp="1"/>
          </p:cNvSpPr>
          <p:nvPr>
            <p:ph type="pic" sz="quarter" idx="14"/>
          </p:nvPr>
        </p:nvSpPr>
        <p:spPr>
          <a:xfrm>
            <a:off x="7589520" y="2286000"/>
            <a:ext cx="4599432" cy="2286000"/>
          </a:xfrm>
          <a:solidFill>
            <a:schemeClr val="accent6"/>
          </a:solidFill>
        </p:spPr>
        <p:txBody>
          <a:bodyPr/>
          <a:lstStyle/>
          <a:p>
            <a:endParaRPr lang="en-US" dirty="0"/>
          </a:p>
        </p:txBody>
      </p:sp>
      <p:sp>
        <p:nvSpPr>
          <p:cNvPr id="26" name="Picture Placeholder 23">
            <a:extLst>
              <a:ext uri="{FF2B5EF4-FFF2-40B4-BE49-F238E27FC236}">
                <a16:creationId xmlns:a16="http://schemas.microsoft.com/office/drawing/2014/main" id="{7329454B-9275-4E86-B32E-91C0DB62AA71}"/>
              </a:ext>
            </a:extLst>
          </p:cNvPr>
          <p:cNvSpPr>
            <a:spLocks noGrp="1"/>
          </p:cNvSpPr>
          <p:nvPr>
            <p:ph type="pic" sz="quarter" idx="15"/>
          </p:nvPr>
        </p:nvSpPr>
        <p:spPr>
          <a:xfrm>
            <a:off x="7589520" y="4572000"/>
            <a:ext cx="4599432" cy="2286000"/>
          </a:xfrm>
          <a:solidFill>
            <a:schemeClr val="accent6"/>
          </a:solidFill>
        </p:spPr>
        <p:txBody>
          <a:bodyPr/>
          <a:lstStyle/>
          <a:p>
            <a:endParaRPr lang="en-US" dirty="0"/>
          </a:p>
        </p:txBody>
      </p:sp>
      <p:sp>
        <p:nvSpPr>
          <p:cNvPr id="30" name="Footer Placeholder 2">
            <a:extLst>
              <a:ext uri="{FF2B5EF4-FFF2-40B4-BE49-F238E27FC236}">
                <a16:creationId xmlns:a16="http://schemas.microsoft.com/office/drawing/2014/main" id="{21E9E1BF-D594-4F96-8DBE-5A8DD51D3B58}"/>
              </a:ext>
            </a:extLst>
          </p:cNvPr>
          <p:cNvSpPr>
            <a:spLocks noGrp="1"/>
          </p:cNvSpPr>
          <p:nvPr>
            <p:ph type="ftr" sz="quarter" idx="11"/>
          </p:nvPr>
        </p:nvSpPr>
        <p:spPr>
          <a:xfrm>
            <a:off x="4038600" y="6429375"/>
            <a:ext cx="4114800" cy="365125"/>
          </a:xfrm>
        </p:spPr>
        <p:txBody>
          <a:bodyPr/>
          <a:lstStyle>
            <a:lvl1pPr algn="l">
              <a:defRPr>
                <a:solidFill>
                  <a:schemeClr val="tx2">
                    <a:alpha val="60000"/>
                  </a:schemeClr>
                </a:solidFill>
              </a:defRPr>
            </a:lvl1pPr>
          </a:lstStyle>
          <a:p>
            <a:r>
              <a:rPr lang="en-US"/>
              <a:t>SAMPLE FOOTER TEXT</a:t>
            </a:r>
            <a:endParaRPr lang="en-US" dirty="0"/>
          </a:p>
        </p:txBody>
      </p:sp>
      <p:sp>
        <p:nvSpPr>
          <p:cNvPr id="31" name="Slide Number Placeholder 3">
            <a:extLst>
              <a:ext uri="{FF2B5EF4-FFF2-40B4-BE49-F238E27FC236}">
                <a16:creationId xmlns:a16="http://schemas.microsoft.com/office/drawing/2014/main" id="{C30FDEF8-F3F3-42D5-9EE1-EDDF18B35377}"/>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791792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E04ED02-B678-4D1E-BEDA-7E28F9038DF5}"/>
              </a:ext>
              <a:ext uri="{C183D7F6-B498-43B3-948B-1728B52AA6E4}">
                <adec:decorative xmlns:adec="http://schemas.microsoft.com/office/drawing/2017/decorative" val="1"/>
              </a:ext>
            </a:extLst>
          </p:cNvPr>
          <p:cNvSpPr/>
          <p:nvPr userDrawn="1"/>
        </p:nvSpPr>
        <p:spPr>
          <a:xfrm>
            <a:off x="9277" y="927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5E2C5A2-B8B2-47C5-8E1B-3A97E2C9BB13}"/>
              </a:ext>
              <a:ext uri="{C183D7F6-B498-43B3-948B-1728B52AA6E4}">
                <adec:decorative xmlns:adec="http://schemas.microsoft.com/office/drawing/2017/decorative" val="1"/>
              </a:ext>
            </a:extLst>
          </p:cNvPr>
          <p:cNvSpPr/>
          <p:nvPr userDrawn="1"/>
        </p:nvSpPr>
        <p:spPr>
          <a:xfrm>
            <a:off x="12325" y="9278"/>
            <a:ext cx="1218895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FD8455-A2E1-40B3-B6C4-36070AF58F78}"/>
              </a:ext>
              <a:ext uri="{C183D7F6-B498-43B3-948B-1728B52AA6E4}">
                <adec:decorative xmlns:adec="http://schemas.microsoft.com/office/drawing/2017/decorative" val="1"/>
              </a:ext>
            </a:extLst>
          </p:cNvPr>
          <p:cNvSpPr/>
          <p:nvPr userDrawn="1"/>
        </p:nvSpPr>
        <p:spPr>
          <a:xfrm>
            <a:off x="1524" y="0"/>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Freeform: Shape 7">
            <a:extLst>
              <a:ext uri="{FF2B5EF4-FFF2-40B4-BE49-F238E27FC236}">
                <a16:creationId xmlns:a16="http://schemas.microsoft.com/office/drawing/2014/main" id="{0F53BE70-C6B1-407C-9333-7251BDC77A9E}"/>
              </a:ext>
              <a:ext uri="{C183D7F6-B498-43B3-948B-1728B52AA6E4}">
                <adec:decorative xmlns:adec="http://schemas.microsoft.com/office/drawing/2017/decorative" val="1"/>
              </a:ext>
            </a:extLst>
          </p:cNvPr>
          <p:cNvSpPr/>
          <p:nvPr userDrawn="1"/>
        </p:nvSpPr>
        <p:spPr>
          <a:xfrm>
            <a:off x="33186" y="9279"/>
            <a:ext cx="5770017" cy="2411171"/>
          </a:xfrm>
          <a:custGeom>
            <a:avLst/>
            <a:gdLst>
              <a:gd name="connsiteX0" fmla="*/ 0 w 5770017"/>
              <a:gd name="connsiteY0" fmla="*/ 0 h 2411171"/>
              <a:gd name="connsiteX1" fmla="*/ 5770017 w 5770017"/>
              <a:gd name="connsiteY1" fmla="*/ 0 h 2411171"/>
              <a:gd name="connsiteX2" fmla="*/ 5715824 w 5770017"/>
              <a:gd name="connsiteY2" fmla="*/ 124746 h 2411171"/>
              <a:gd name="connsiteX3" fmla="*/ 4925072 w 5770017"/>
              <a:gd name="connsiteY3" fmla="*/ 1254414 h 2411171"/>
              <a:gd name="connsiteX4" fmla="*/ 125602 w 5770017"/>
              <a:gd name="connsiteY4" fmla="*/ 1864423 h 2411171"/>
              <a:gd name="connsiteX5" fmla="*/ 0 w 5770017"/>
              <a:gd name="connsiteY5" fmla="*/ 1785927 h 24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70017" h="2411171">
                <a:moveTo>
                  <a:pt x="0" y="0"/>
                </a:moveTo>
                <a:lnTo>
                  <a:pt x="5770017" y="0"/>
                </a:lnTo>
                <a:lnTo>
                  <a:pt x="5715824" y="124746"/>
                </a:lnTo>
                <a:cubicBezTo>
                  <a:pt x="5526044" y="533784"/>
                  <a:pt x="5262460" y="917027"/>
                  <a:pt x="4925072" y="1254414"/>
                </a:cubicBezTo>
                <a:cubicBezTo>
                  <a:pt x="3623720" y="2555767"/>
                  <a:pt x="1640148" y="2759102"/>
                  <a:pt x="125602" y="1864423"/>
                </a:cubicBezTo>
                <a:lnTo>
                  <a:pt x="0" y="1785927"/>
                </a:lnTo>
                <a:close/>
              </a:path>
            </a:pathLst>
          </a:custGeom>
          <a:gradFill>
            <a:gsLst>
              <a:gs pos="0">
                <a:schemeClr val="accent2">
                  <a:alpha val="20000"/>
                </a:schemeClr>
              </a:gs>
              <a:gs pos="100000">
                <a:schemeClr val="accent1">
                  <a:alpha val="2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ame 8">
            <a:extLst>
              <a:ext uri="{FF2B5EF4-FFF2-40B4-BE49-F238E27FC236}">
                <a16:creationId xmlns:a16="http://schemas.microsoft.com/office/drawing/2014/main" id="{05864DDE-75C0-4BE6-93FF-A960706ADEC3}"/>
              </a:ext>
              <a:ext uri="{C183D7F6-B498-43B3-948B-1728B52AA6E4}">
                <adec:decorative xmlns:adec="http://schemas.microsoft.com/office/drawing/2017/decorative" val="1"/>
              </a:ext>
            </a:extLst>
          </p:cNvPr>
          <p:cNvSpPr/>
          <p:nvPr userDrawn="1"/>
        </p:nvSpPr>
        <p:spPr>
          <a:xfrm>
            <a:off x="1524" y="0"/>
            <a:ext cx="12188952" cy="6858000"/>
          </a:xfrm>
          <a:prstGeom prst="frame">
            <a:avLst>
              <a:gd name="adj1" fmla="val 716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itle 1">
            <a:extLst>
              <a:ext uri="{FF2B5EF4-FFF2-40B4-BE49-F238E27FC236}">
                <a16:creationId xmlns:a16="http://schemas.microsoft.com/office/drawing/2014/main" id="{1BC3FA0F-EAE5-4DCE-ACFF-9AD00ED39FCF}"/>
              </a:ext>
            </a:extLst>
          </p:cNvPr>
          <p:cNvSpPr>
            <a:spLocks noGrp="1"/>
          </p:cNvSpPr>
          <p:nvPr>
            <p:ph type="ctrTitle"/>
          </p:nvPr>
        </p:nvSpPr>
        <p:spPr>
          <a:xfrm>
            <a:off x="847477" y="1131641"/>
            <a:ext cx="5322618" cy="2387600"/>
          </a:xfrm>
        </p:spPr>
        <p:txBody>
          <a:bodyPr/>
          <a:lstStyle>
            <a:lvl1pPr>
              <a:defRPr>
                <a:solidFill>
                  <a:schemeClr val="bg1"/>
                </a:solidFill>
              </a:defRPr>
            </a:lvl1pPr>
          </a:lstStyle>
          <a:p>
            <a:pPr algn="l"/>
            <a:endParaRPr lang="en-US" dirty="0">
              <a:solidFill>
                <a:srgbClr val="FFFFFF"/>
              </a:solidFill>
              <a:ea typeface="Cambria" panose="02040503050406030204" pitchFamily="18" charset="0"/>
              <a:cs typeface="Sabon Next LT" panose="020B0502040204020203" pitchFamily="2" charset="0"/>
            </a:endParaRPr>
          </a:p>
        </p:txBody>
      </p:sp>
      <p:sp>
        <p:nvSpPr>
          <p:cNvPr id="18" name="Picture Placeholder 17">
            <a:extLst>
              <a:ext uri="{FF2B5EF4-FFF2-40B4-BE49-F238E27FC236}">
                <a16:creationId xmlns:a16="http://schemas.microsoft.com/office/drawing/2014/main" id="{71FA5E0E-BEE1-4976-92B1-61EF64E34371}"/>
              </a:ext>
            </a:extLst>
          </p:cNvPr>
          <p:cNvSpPr>
            <a:spLocks noGrp="1"/>
          </p:cNvSpPr>
          <p:nvPr>
            <p:ph type="pic" sz="quarter" idx="13"/>
          </p:nvPr>
        </p:nvSpPr>
        <p:spPr>
          <a:xfrm>
            <a:off x="6784848" y="905256"/>
            <a:ext cx="4581144" cy="2450592"/>
          </a:xfrm>
          <a:solidFill>
            <a:schemeClr val="accent6"/>
          </a:solidFill>
        </p:spPr>
        <p:txBody>
          <a:bodyPr/>
          <a:lstStyle/>
          <a:p>
            <a:endParaRPr lang="en-US" dirty="0"/>
          </a:p>
        </p:txBody>
      </p:sp>
      <p:sp>
        <p:nvSpPr>
          <p:cNvPr id="20" name="Picture Placeholder 17">
            <a:extLst>
              <a:ext uri="{FF2B5EF4-FFF2-40B4-BE49-F238E27FC236}">
                <a16:creationId xmlns:a16="http://schemas.microsoft.com/office/drawing/2014/main" id="{03379FE8-A6CE-4F5A-BE1A-B2267589BE85}"/>
              </a:ext>
            </a:extLst>
          </p:cNvPr>
          <p:cNvSpPr>
            <a:spLocks noGrp="1"/>
          </p:cNvSpPr>
          <p:nvPr>
            <p:ph type="pic" sz="quarter" idx="14"/>
          </p:nvPr>
        </p:nvSpPr>
        <p:spPr>
          <a:xfrm>
            <a:off x="6784848" y="3520440"/>
            <a:ext cx="4581144" cy="2450592"/>
          </a:xfrm>
          <a:solidFill>
            <a:schemeClr val="accent6"/>
          </a:solidFill>
        </p:spPr>
        <p:txBody>
          <a:bodyPr/>
          <a:lstStyle/>
          <a:p>
            <a:endParaRPr lang="en-US" dirty="0"/>
          </a:p>
        </p:txBody>
      </p:sp>
      <p:sp>
        <p:nvSpPr>
          <p:cNvPr id="13" name="Text Placeholder 12">
            <a:extLst>
              <a:ext uri="{FF2B5EF4-FFF2-40B4-BE49-F238E27FC236}">
                <a16:creationId xmlns:a16="http://schemas.microsoft.com/office/drawing/2014/main" id="{6DD090CA-24E8-46A7-889A-A4FDD00A33E5}"/>
              </a:ext>
            </a:extLst>
          </p:cNvPr>
          <p:cNvSpPr>
            <a:spLocks noGrp="1"/>
          </p:cNvSpPr>
          <p:nvPr>
            <p:ph type="body" sz="quarter" idx="15"/>
          </p:nvPr>
        </p:nvSpPr>
        <p:spPr>
          <a:xfrm>
            <a:off x="838200" y="3600450"/>
            <a:ext cx="5322888" cy="2451100"/>
          </a:xfrm>
        </p:spPr>
        <p:txBody>
          <a:bodyPr>
            <a:normAutofit/>
          </a:bodyPr>
          <a:lstStyle>
            <a:lvl1pPr marL="0" indent="0">
              <a:buNone/>
              <a:defRPr sz="2800">
                <a:solidFill>
                  <a:schemeClr val="bg1"/>
                </a:solidFill>
                <a:latin typeface="+mn-lt"/>
              </a:defRPr>
            </a:lvl1pPr>
          </a:lstStyle>
          <a:p>
            <a:pPr lvl="0"/>
            <a:r>
              <a:rPr lang="en-US" dirty="0"/>
              <a:t>Click to edit Master text styles</a:t>
            </a:r>
          </a:p>
        </p:txBody>
      </p:sp>
    </p:spTree>
    <p:extLst>
      <p:ext uri="{BB962C8B-B14F-4D97-AF65-F5344CB8AC3E}">
        <p14:creationId xmlns:p14="http://schemas.microsoft.com/office/powerpoint/2010/main" val="2350935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able Chart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26859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3B5BF0-238D-481F-A15B-206D1E2FEDD2}"/>
              </a:ext>
              <a:ext uri="{C183D7F6-B498-43B3-948B-1728B52AA6E4}">
                <adec:decorative xmlns:adec="http://schemas.microsoft.com/office/drawing/2017/decorative" val="1"/>
              </a:ext>
            </a:extLst>
          </p:cNvPr>
          <p:cNvSpPr/>
          <p:nvPr userDrawn="1"/>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7578E43B-8F1B-4CBD-B09E-5AD9A247E3F8}"/>
              </a:ext>
              <a:ext uri="{C183D7F6-B498-43B3-948B-1728B52AA6E4}">
                <adec:decorative xmlns:adec="http://schemas.microsoft.com/office/drawing/2017/decorative" val="1"/>
              </a:ext>
            </a:extLst>
          </p:cNvPr>
          <p:cNvSpPr/>
          <p:nvPr userDrawn="1"/>
        </p:nvSpPr>
        <p:spPr>
          <a:xfrm>
            <a:off x="-38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ame 13">
            <a:extLst>
              <a:ext uri="{FF2B5EF4-FFF2-40B4-BE49-F238E27FC236}">
                <a16:creationId xmlns:a16="http://schemas.microsoft.com/office/drawing/2014/main" id="{737C17C2-E2A6-4219-AE02-C8EAF943C472}"/>
              </a:ext>
              <a:ext uri="{C183D7F6-B498-43B3-948B-1728B52AA6E4}">
                <adec:decorative xmlns:adec="http://schemas.microsoft.com/office/drawing/2017/decorative" val="1"/>
              </a:ext>
            </a:extLst>
          </p:cNvPr>
          <p:cNvSpPr/>
          <p:nvPr userDrawn="1"/>
        </p:nvSpPr>
        <p:spPr>
          <a:xfrm>
            <a:off x="-389"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AE7BC3CE-3806-41F3-B4F6-EBB2C3E9EA28}"/>
              </a:ext>
            </a:extLst>
          </p:cNvPr>
          <p:cNvSpPr>
            <a:spLocks noGrp="1"/>
          </p:cNvSpPr>
          <p:nvPr>
            <p:ph type="pic" sz="quarter" idx="13"/>
          </p:nvPr>
        </p:nvSpPr>
        <p:spPr>
          <a:xfrm>
            <a:off x="6096" y="484632"/>
            <a:ext cx="12179808" cy="5907024"/>
          </a:xfrm>
          <a:solidFill>
            <a:schemeClr val="accent6"/>
          </a:solidFill>
        </p:spPr>
        <p:txBody>
          <a:bodyPr/>
          <a:lstStyle/>
          <a:p>
            <a:endParaRPr lang="en-US" dirty="0"/>
          </a:p>
        </p:txBody>
      </p:sp>
      <p:sp>
        <p:nvSpPr>
          <p:cNvPr id="6" name="Title 5">
            <a:extLst>
              <a:ext uri="{FF2B5EF4-FFF2-40B4-BE49-F238E27FC236}">
                <a16:creationId xmlns:a16="http://schemas.microsoft.com/office/drawing/2014/main" id="{FDC036CF-E92D-4E80-8E6B-1B06EDDFD7CF}"/>
              </a:ext>
            </a:extLst>
          </p:cNvPr>
          <p:cNvSpPr>
            <a:spLocks noGrp="1"/>
          </p:cNvSpPr>
          <p:nvPr>
            <p:ph type="title"/>
          </p:nvPr>
        </p:nvSpPr>
        <p:spPr>
          <a:xfrm>
            <a:off x="838200" y="1271016"/>
            <a:ext cx="4800600" cy="3749040"/>
          </a:xfrm>
        </p:spPr>
        <p:txBody>
          <a:bodyPr anchor="b" anchorCtr="0"/>
          <a:lstStyle>
            <a:lvl1pPr>
              <a:defRPr>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26" name="Text Placeholder 25">
            <a:extLst>
              <a:ext uri="{FF2B5EF4-FFF2-40B4-BE49-F238E27FC236}">
                <a16:creationId xmlns:a16="http://schemas.microsoft.com/office/drawing/2014/main" id="{BADCFE1B-ABA2-4B11-B7DE-02CE383D6F22}"/>
              </a:ext>
            </a:extLst>
          </p:cNvPr>
          <p:cNvSpPr>
            <a:spLocks noGrp="1"/>
          </p:cNvSpPr>
          <p:nvPr>
            <p:ph type="body" sz="quarter" idx="15" hasCustomPrompt="1"/>
          </p:nvPr>
        </p:nvSpPr>
        <p:spPr>
          <a:xfrm>
            <a:off x="838200" y="4835779"/>
            <a:ext cx="4800600" cy="1066800"/>
          </a:xfrm>
        </p:spPr>
        <p:txBody>
          <a:bodyPr>
            <a:normAutofit/>
          </a:bodyPr>
          <a:lstStyle>
            <a:lvl1pPr marL="228600" indent="0">
              <a:buNone/>
              <a:defRPr sz="2200">
                <a:solidFill>
                  <a:schemeClr val="bg1"/>
                </a:solidFill>
                <a:effectLst>
                  <a:outerShdw blurRad="38100" dist="38100" dir="2700000" algn="tl">
                    <a:srgbClr val="000000">
                      <a:alpha val="43137"/>
                    </a:srgbClr>
                  </a:outerShdw>
                </a:effectLst>
              </a:defRPr>
            </a:lvl1pPr>
          </a:lstStyle>
          <a:p>
            <a:pPr lvl="0"/>
            <a:r>
              <a:rPr lang="en-US" dirty="0"/>
              <a:t>Click to add subtitle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8290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dirty="0"/>
              <a:t>Click to edit Master title style</a:t>
            </a:r>
          </a:p>
        </p:txBody>
      </p:sp>
      <p:sp>
        <p:nvSpPr>
          <p:cNvPr id="15" name="Picture Placeholder 14">
            <a:extLst>
              <a:ext uri="{FF2B5EF4-FFF2-40B4-BE49-F238E27FC236}">
                <a16:creationId xmlns:a16="http://schemas.microsoft.com/office/drawing/2014/main" id="{1B84B862-7F1F-4B98-B437-936D8A73A91A}"/>
              </a:ext>
            </a:extLst>
          </p:cNvPr>
          <p:cNvSpPr>
            <a:spLocks noGrp="1"/>
          </p:cNvSpPr>
          <p:nvPr>
            <p:ph type="pic" sz="quarter" idx="13"/>
          </p:nvPr>
        </p:nvSpPr>
        <p:spPr>
          <a:xfrm>
            <a:off x="740664" y="2240280"/>
            <a:ext cx="2286000" cy="2322576"/>
          </a:xfrm>
          <a:solidFill>
            <a:schemeClr val="accent6"/>
          </a:solidFill>
        </p:spPr>
        <p:txBody>
          <a:bodyPr/>
          <a:lstStyle/>
          <a:p>
            <a:endParaRPr lang="en-US" dirty="0"/>
          </a:p>
        </p:txBody>
      </p:sp>
      <p:sp>
        <p:nvSpPr>
          <p:cNvPr id="16" name="Picture Placeholder 14">
            <a:extLst>
              <a:ext uri="{FF2B5EF4-FFF2-40B4-BE49-F238E27FC236}">
                <a16:creationId xmlns:a16="http://schemas.microsoft.com/office/drawing/2014/main" id="{C76B23B2-3605-4292-9F96-F34651B689A7}"/>
              </a:ext>
            </a:extLst>
          </p:cNvPr>
          <p:cNvSpPr>
            <a:spLocks noGrp="1"/>
          </p:cNvSpPr>
          <p:nvPr>
            <p:ph type="pic" sz="quarter" idx="14"/>
          </p:nvPr>
        </p:nvSpPr>
        <p:spPr>
          <a:xfrm>
            <a:off x="3538728" y="2240280"/>
            <a:ext cx="2286000" cy="2322576"/>
          </a:xfrm>
          <a:solidFill>
            <a:schemeClr val="accent6"/>
          </a:solidFill>
        </p:spPr>
        <p:txBody>
          <a:bodyPr/>
          <a:lstStyle/>
          <a:p>
            <a:endParaRPr lang="en-US" dirty="0"/>
          </a:p>
        </p:txBody>
      </p:sp>
      <p:sp>
        <p:nvSpPr>
          <p:cNvPr id="17" name="Picture Placeholder 14">
            <a:extLst>
              <a:ext uri="{FF2B5EF4-FFF2-40B4-BE49-F238E27FC236}">
                <a16:creationId xmlns:a16="http://schemas.microsoft.com/office/drawing/2014/main" id="{AB1E9EC3-2FB6-4E1C-8211-306450FDEE7F}"/>
              </a:ext>
            </a:extLst>
          </p:cNvPr>
          <p:cNvSpPr>
            <a:spLocks noGrp="1"/>
          </p:cNvSpPr>
          <p:nvPr>
            <p:ph type="pic" sz="quarter" idx="15"/>
          </p:nvPr>
        </p:nvSpPr>
        <p:spPr>
          <a:xfrm>
            <a:off x="6345936" y="2267712"/>
            <a:ext cx="2286000" cy="2322576"/>
          </a:xfrm>
          <a:solidFill>
            <a:schemeClr val="accent6"/>
          </a:solidFill>
        </p:spPr>
        <p:txBody>
          <a:bodyPr/>
          <a:lstStyle/>
          <a:p>
            <a:endParaRPr lang="en-US" dirty="0"/>
          </a:p>
        </p:txBody>
      </p:sp>
      <p:sp>
        <p:nvSpPr>
          <p:cNvPr id="18" name="Picture Placeholder 14">
            <a:extLst>
              <a:ext uri="{FF2B5EF4-FFF2-40B4-BE49-F238E27FC236}">
                <a16:creationId xmlns:a16="http://schemas.microsoft.com/office/drawing/2014/main" id="{F3628146-045F-4FBC-A365-3D1D4B3DA6E9}"/>
              </a:ext>
            </a:extLst>
          </p:cNvPr>
          <p:cNvSpPr>
            <a:spLocks noGrp="1"/>
          </p:cNvSpPr>
          <p:nvPr>
            <p:ph type="pic" sz="quarter" idx="16"/>
          </p:nvPr>
        </p:nvSpPr>
        <p:spPr>
          <a:xfrm>
            <a:off x="9153144" y="2267712"/>
            <a:ext cx="2286000" cy="2322576"/>
          </a:xfrm>
          <a:solidFill>
            <a:schemeClr val="accent6"/>
          </a:solidFill>
        </p:spPr>
        <p:txBody>
          <a:bodyPr/>
          <a:lstStyle/>
          <a:p>
            <a:endParaRPr lang="en-US" dirty="0"/>
          </a:p>
        </p:txBody>
      </p:sp>
      <p:sp>
        <p:nvSpPr>
          <p:cNvPr id="20" name="Text Placeholder 19">
            <a:extLst>
              <a:ext uri="{FF2B5EF4-FFF2-40B4-BE49-F238E27FC236}">
                <a16:creationId xmlns:a16="http://schemas.microsoft.com/office/drawing/2014/main" id="{CB50972B-CA23-4B92-987F-EE48ECCFF590}"/>
              </a:ext>
            </a:extLst>
          </p:cNvPr>
          <p:cNvSpPr>
            <a:spLocks noGrp="1"/>
          </p:cNvSpPr>
          <p:nvPr>
            <p:ph type="body" sz="quarter" idx="17" hasCustomPrompt="1"/>
          </p:nvPr>
        </p:nvSpPr>
        <p:spPr>
          <a:xfrm>
            <a:off x="741363"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3" name="Text Placeholder 19">
            <a:extLst>
              <a:ext uri="{FF2B5EF4-FFF2-40B4-BE49-F238E27FC236}">
                <a16:creationId xmlns:a16="http://schemas.microsoft.com/office/drawing/2014/main" id="{8DE19225-DA72-4A39-8CFD-695BFBB93E6D}"/>
              </a:ext>
            </a:extLst>
          </p:cNvPr>
          <p:cNvSpPr>
            <a:spLocks noGrp="1"/>
          </p:cNvSpPr>
          <p:nvPr>
            <p:ph type="body" sz="quarter" idx="18" hasCustomPrompt="1"/>
          </p:nvPr>
        </p:nvSpPr>
        <p:spPr>
          <a:xfrm>
            <a:off x="740664"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4" name="Text Placeholder 19">
            <a:extLst>
              <a:ext uri="{FF2B5EF4-FFF2-40B4-BE49-F238E27FC236}">
                <a16:creationId xmlns:a16="http://schemas.microsoft.com/office/drawing/2014/main" id="{E66A7C97-DBB6-4333-B12F-E26C38E6975C}"/>
              </a:ext>
            </a:extLst>
          </p:cNvPr>
          <p:cNvSpPr>
            <a:spLocks noGrp="1"/>
          </p:cNvSpPr>
          <p:nvPr>
            <p:ph type="body" sz="quarter" idx="19" hasCustomPrompt="1"/>
          </p:nvPr>
        </p:nvSpPr>
        <p:spPr>
          <a:xfrm>
            <a:off x="3538728"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5" name="Text Placeholder 19">
            <a:extLst>
              <a:ext uri="{FF2B5EF4-FFF2-40B4-BE49-F238E27FC236}">
                <a16:creationId xmlns:a16="http://schemas.microsoft.com/office/drawing/2014/main" id="{041FA0B5-660E-478A-AF8A-196DBD6AE43A}"/>
              </a:ext>
            </a:extLst>
          </p:cNvPr>
          <p:cNvSpPr>
            <a:spLocks noGrp="1"/>
          </p:cNvSpPr>
          <p:nvPr>
            <p:ph type="body" sz="quarter" idx="20" hasCustomPrompt="1"/>
          </p:nvPr>
        </p:nvSpPr>
        <p:spPr>
          <a:xfrm>
            <a:off x="3538029"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6" name="Text Placeholder 19">
            <a:extLst>
              <a:ext uri="{FF2B5EF4-FFF2-40B4-BE49-F238E27FC236}">
                <a16:creationId xmlns:a16="http://schemas.microsoft.com/office/drawing/2014/main" id="{77C92085-3D01-44E4-BA12-E39F1EA0ACE5}"/>
              </a:ext>
            </a:extLst>
          </p:cNvPr>
          <p:cNvSpPr>
            <a:spLocks noGrp="1"/>
          </p:cNvSpPr>
          <p:nvPr>
            <p:ph type="body" sz="quarter" idx="21" hasCustomPrompt="1"/>
          </p:nvPr>
        </p:nvSpPr>
        <p:spPr>
          <a:xfrm>
            <a:off x="6367973" y="4733544"/>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7" name="Text Placeholder 19">
            <a:extLst>
              <a:ext uri="{FF2B5EF4-FFF2-40B4-BE49-F238E27FC236}">
                <a16:creationId xmlns:a16="http://schemas.microsoft.com/office/drawing/2014/main" id="{35DA97BC-7224-440A-A227-8F4A1018043A}"/>
              </a:ext>
            </a:extLst>
          </p:cNvPr>
          <p:cNvSpPr>
            <a:spLocks noGrp="1"/>
          </p:cNvSpPr>
          <p:nvPr>
            <p:ph type="body" sz="quarter" idx="22" hasCustomPrompt="1"/>
          </p:nvPr>
        </p:nvSpPr>
        <p:spPr>
          <a:xfrm>
            <a:off x="6367274" y="5342763"/>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8" name="Text Placeholder 19">
            <a:extLst>
              <a:ext uri="{FF2B5EF4-FFF2-40B4-BE49-F238E27FC236}">
                <a16:creationId xmlns:a16="http://schemas.microsoft.com/office/drawing/2014/main" id="{C236524B-4724-42FA-A2B2-33566478FD42}"/>
              </a:ext>
            </a:extLst>
          </p:cNvPr>
          <p:cNvSpPr>
            <a:spLocks noGrp="1"/>
          </p:cNvSpPr>
          <p:nvPr>
            <p:ph type="body" sz="quarter" idx="23" hasCustomPrompt="1"/>
          </p:nvPr>
        </p:nvSpPr>
        <p:spPr>
          <a:xfrm>
            <a:off x="9164639" y="4737100"/>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9" name="Text Placeholder 19">
            <a:extLst>
              <a:ext uri="{FF2B5EF4-FFF2-40B4-BE49-F238E27FC236}">
                <a16:creationId xmlns:a16="http://schemas.microsoft.com/office/drawing/2014/main" id="{5F7DE4ED-8F4D-465C-86B4-2372AE291F56}"/>
              </a:ext>
            </a:extLst>
          </p:cNvPr>
          <p:cNvSpPr>
            <a:spLocks noGrp="1"/>
          </p:cNvSpPr>
          <p:nvPr>
            <p:ph type="body" sz="quarter" idx="24" hasCustomPrompt="1"/>
          </p:nvPr>
        </p:nvSpPr>
        <p:spPr>
          <a:xfrm>
            <a:off x="9163940" y="5346319"/>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380455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5157787" cy="3446463"/>
          </a:xfrm>
          <a:solidFill>
            <a:schemeClr val="bg1"/>
          </a:solidFill>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60320"/>
            <a:ext cx="5183188" cy="3446463"/>
          </a:xfrm>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10" name="Title 9">
            <a:extLst>
              <a:ext uri="{FF2B5EF4-FFF2-40B4-BE49-F238E27FC236}">
                <a16:creationId xmlns:a16="http://schemas.microsoft.com/office/drawing/2014/main" id="{351C83D0-CBAB-4E41-89AB-89FF36D38A0A}"/>
              </a:ext>
            </a:extLst>
          </p:cNvPr>
          <p:cNvSpPr>
            <a:spLocks noGrp="1"/>
          </p:cNvSpPr>
          <p:nvPr>
            <p:ph type="title"/>
          </p:nvPr>
        </p:nvSpPr>
        <p:spPr/>
        <p:txBody>
          <a:bodyPr/>
          <a:lstStyle/>
          <a:p>
            <a:r>
              <a:rPr lang="en-US"/>
              <a:t>Click to edit Master title style</a:t>
            </a:r>
          </a:p>
        </p:txBody>
      </p:sp>
      <p:sp>
        <p:nvSpPr>
          <p:cNvPr id="11" name="Text Placeholder 2">
            <a:extLst>
              <a:ext uri="{FF2B5EF4-FFF2-40B4-BE49-F238E27FC236}">
                <a16:creationId xmlns:a16="http://schemas.microsoft.com/office/drawing/2014/main" id="{9C302BB0-D231-4195-8083-264C01DF99B8}"/>
              </a:ext>
            </a:extLst>
          </p:cNvPr>
          <p:cNvSpPr>
            <a:spLocks noGrp="1"/>
          </p:cNvSpPr>
          <p:nvPr>
            <p:ph type="body" idx="1"/>
          </p:nvPr>
        </p:nvSpPr>
        <p:spPr>
          <a:xfrm>
            <a:off x="839787" y="2011680"/>
            <a:ext cx="51577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4">
            <a:extLst>
              <a:ext uri="{FF2B5EF4-FFF2-40B4-BE49-F238E27FC236}">
                <a16:creationId xmlns:a16="http://schemas.microsoft.com/office/drawing/2014/main" id="{5B2A70FA-99E0-466C-AC57-33C48353BBDB}"/>
              </a:ext>
            </a:extLst>
          </p:cNvPr>
          <p:cNvSpPr>
            <a:spLocks noGrp="1"/>
          </p:cNvSpPr>
          <p:nvPr>
            <p:ph type="body" sz="quarter" idx="13"/>
          </p:nvPr>
        </p:nvSpPr>
        <p:spPr>
          <a:xfrm>
            <a:off x="6169027" y="2011680"/>
            <a:ext cx="51831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5747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85800"/>
            <a:ext cx="10515600" cy="132588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4404360"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4404360"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22881CE-A366-4A3A-AE00-9B14BEFE4A95}"/>
              </a:ext>
            </a:extLst>
          </p:cNvPr>
          <p:cNvSpPr>
            <a:spLocks noGrp="1"/>
          </p:cNvSpPr>
          <p:nvPr>
            <p:ph type="body" sz="quarter" idx="13"/>
          </p:nvPr>
        </p:nvSpPr>
        <p:spPr>
          <a:xfrm>
            <a:off x="7968934"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3CF16E98-73C9-47B5-B88B-9120BEB9F09B}"/>
              </a:ext>
            </a:extLst>
          </p:cNvPr>
          <p:cNvSpPr>
            <a:spLocks noGrp="1"/>
          </p:cNvSpPr>
          <p:nvPr>
            <p:ph sz="quarter" idx="14"/>
          </p:nvPr>
        </p:nvSpPr>
        <p:spPr>
          <a:xfrm>
            <a:off x="7968934"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658878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6" name="Title 1">
            <a:extLst>
              <a:ext uri="{FF2B5EF4-FFF2-40B4-BE49-F238E27FC236}">
                <a16:creationId xmlns:a16="http://schemas.microsoft.com/office/drawing/2014/main" id="{673294AE-7408-47DB-898D-41F8C069B42E}"/>
              </a:ext>
            </a:extLst>
          </p:cNvPr>
          <p:cNvSpPr>
            <a:spLocks noGrp="1"/>
          </p:cNvSpPr>
          <p:nvPr>
            <p:ph type="title"/>
          </p:nvPr>
        </p:nvSpPr>
        <p:spPr>
          <a:xfrm>
            <a:off x="841248" y="857251"/>
            <a:ext cx="6156051" cy="2076450"/>
          </a:xfrm>
        </p:spPr>
        <p:txBody>
          <a:bodyPr anchor="b">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E973052A-4118-4E04-81F8-A44EC172FE46}"/>
              </a:ext>
            </a:extLst>
          </p:cNvPr>
          <p:cNvSpPr>
            <a:spLocks noGrp="1"/>
          </p:cNvSpPr>
          <p:nvPr>
            <p:ph idx="1"/>
          </p:nvPr>
        </p:nvSpPr>
        <p:spPr>
          <a:xfrm>
            <a:off x="841247" y="3190875"/>
            <a:ext cx="6156052" cy="2986087"/>
          </a:xfrm>
        </p:spPr>
        <p:txBody>
          <a:bodyPr>
            <a:normAutofit/>
          </a:bodyPr>
          <a:lstStyle>
            <a:lvl1pPr marL="0" indent="0">
              <a:buNone/>
              <a:defRPr sz="2200"/>
            </a:lvl1pPr>
          </a:lstStyle>
          <a:p>
            <a:pPr marL="228600" indent="-228600"/>
            <a:endParaRPr lang="en-US" sz="2000" dirty="0">
              <a:solidFill>
                <a:schemeClr val="tx2">
                  <a:alpha val="60000"/>
                </a:schemeClr>
              </a:solidFill>
            </a:endParaRPr>
          </a:p>
        </p:txBody>
      </p:sp>
      <p:sp>
        <p:nvSpPr>
          <p:cNvPr id="10" name="Date Placeholder 3">
            <a:extLst>
              <a:ext uri="{FF2B5EF4-FFF2-40B4-BE49-F238E27FC236}">
                <a16:creationId xmlns:a16="http://schemas.microsoft.com/office/drawing/2014/main" id="{8988D1E1-6064-4D6A-9EB1-578E20A2A0ED}"/>
              </a:ext>
            </a:extLst>
          </p:cNvPr>
          <p:cNvSpPr txBox="1">
            <a:spLocks/>
          </p:cNvSpPr>
          <p:nvPr userDrawn="1"/>
        </p:nvSpPr>
        <p:spPr>
          <a:xfrm>
            <a:off x="841248" y="6429375"/>
            <a:ext cx="2646725"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B23B9F-B223-42FC-B961-B8BFC75D2259}" type="datetime1">
              <a:rPr lang="en-US" smtClean="0">
                <a:solidFill>
                  <a:schemeClr val="tx2">
                    <a:alpha val="60000"/>
                  </a:schemeClr>
                </a:solidFill>
              </a:rPr>
              <a:pPr/>
              <a:t>11/1/25</a:t>
            </a:fld>
            <a:endParaRPr lang="en-US" dirty="0">
              <a:solidFill>
                <a:schemeClr val="tx2">
                  <a:alpha val="60000"/>
                </a:schemeClr>
              </a:solidFill>
            </a:endParaRPr>
          </a:p>
        </p:txBody>
      </p:sp>
      <p:sp>
        <p:nvSpPr>
          <p:cNvPr id="11" name="Footer Placeholder 4">
            <a:extLst>
              <a:ext uri="{FF2B5EF4-FFF2-40B4-BE49-F238E27FC236}">
                <a16:creationId xmlns:a16="http://schemas.microsoft.com/office/drawing/2014/main" id="{BD47C5CB-0317-4DC6-A76F-38A5BB1FD1C2}"/>
              </a:ext>
            </a:extLst>
          </p:cNvPr>
          <p:cNvSpPr txBox="1">
            <a:spLocks/>
          </p:cNvSpPr>
          <p:nvPr userDrawn="1"/>
        </p:nvSpPr>
        <p:spPr>
          <a:xfrm>
            <a:off x="4044696" y="64293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2">
                    <a:alpha val="60000"/>
                  </a:schemeClr>
                </a:solidFill>
              </a:rPr>
              <a:t>Sample footer text</a:t>
            </a:r>
            <a:endParaRPr lang="en-US" dirty="0">
              <a:solidFill>
                <a:schemeClr val="tx2">
                  <a:alpha val="60000"/>
                </a:schemeClr>
              </a:solidFill>
            </a:endParaRPr>
          </a:p>
        </p:txBody>
      </p:sp>
      <p:sp>
        <p:nvSpPr>
          <p:cNvPr id="12" name="Slide Number Placeholder 5">
            <a:extLst>
              <a:ext uri="{FF2B5EF4-FFF2-40B4-BE49-F238E27FC236}">
                <a16:creationId xmlns:a16="http://schemas.microsoft.com/office/drawing/2014/main" id="{8CCF6E15-0BE7-453B-BBD4-B379C390AD22}"/>
              </a:ext>
            </a:extLst>
          </p:cNvPr>
          <p:cNvSpPr txBox="1">
            <a:spLocks/>
          </p:cNvSpPr>
          <p:nvPr userDrawn="1"/>
        </p:nvSpPr>
        <p:spPr>
          <a:xfrm>
            <a:off x="8613648" y="64293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solidFill>
                  <a:schemeClr val="tx2">
                    <a:alpha val="60000"/>
                  </a:schemeClr>
                </a:solidFill>
              </a:rPr>
              <a:pPr/>
              <a:t>‹#›</a:t>
            </a:fld>
            <a:endParaRPr lang="en-US" dirty="0">
              <a:solidFill>
                <a:schemeClr val="tx2">
                  <a:alpha val="60000"/>
                </a:schemeClr>
              </a:solidFill>
            </a:endParaRPr>
          </a:p>
        </p:txBody>
      </p:sp>
      <p:sp>
        <p:nvSpPr>
          <p:cNvPr id="14" name="Picture Placeholder 13">
            <a:extLst>
              <a:ext uri="{FF2B5EF4-FFF2-40B4-BE49-F238E27FC236}">
                <a16:creationId xmlns:a16="http://schemas.microsoft.com/office/drawing/2014/main" id="{0E092228-4487-4E3A-AEE3-12DC34A061E2}"/>
              </a:ext>
            </a:extLst>
          </p:cNvPr>
          <p:cNvSpPr>
            <a:spLocks noGrp="1"/>
          </p:cNvSpPr>
          <p:nvPr>
            <p:ph type="pic" sz="quarter" idx="13"/>
          </p:nvPr>
        </p:nvSpPr>
        <p:spPr>
          <a:xfrm>
            <a:off x="7424928" y="484632"/>
            <a:ext cx="4279392" cy="2862072"/>
          </a:xfrm>
          <a:solidFill>
            <a:schemeClr val="accent6"/>
          </a:solidFill>
        </p:spPr>
        <p:txBody>
          <a:bodyPr/>
          <a:lstStyle/>
          <a:p>
            <a:endParaRPr lang="en-US"/>
          </a:p>
        </p:txBody>
      </p:sp>
      <p:sp>
        <p:nvSpPr>
          <p:cNvPr id="15" name="Picture Placeholder 13">
            <a:extLst>
              <a:ext uri="{FF2B5EF4-FFF2-40B4-BE49-F238E27FC236}">
                <a16:creationId xmlns:a16="http://schemas.microsoft.com/office/drawing/2014/main" id="{6AB20921-6E7F-4BD8-9399-D18CABB64B9A}"/>
              </a:ext>
            </a:extLst>
          </p:cNvPr>
          <p:cNvSpPr>
            <a:spLocks noGrp="1"/>
          </p:cNvSpPr>
          <p:nvPr>
            <p:ph type="pic" sz="quarter" idx="14"/>
          </p:nvPr>
        </p:nvSpPr>
        <p:spPr>
          <a:xfrm>
            <a:off x="7424928" y="3511296"/>
            <a:ext cx="4279392" cy="2862072"/>
          </a:xfrm>
          <a:solidFill>
            <a:schemeClr val="accent6"/>
          </a:solidFill>
        </p:spPr>
        <p:txBody>
          <a:bodyPr/>
          <a:lstStyle/>
          <a:p>
            <a:endParaRPr lang="en-US"/>
          </a:p>
        </p:txBody>
      </p:sp>
    </p:spTree>
    <p:extLst>
      <p:ext uri="{BB962C8B-B14F-4D97-AF65-F5344CB8AC3E}">
        <p14:creationId xmlns:p14="http://schemas.microsoft.com/office/powerpoint/2010/main" val="4230430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022B425-A1C3-4DFE-BF49-1B9F96D46B2A}"/>
              </a:ext>
            </a:extLst>
          </p:cNvPr>
          <p:cNvSpPr>
            <a:spLocks noGrp="1"/>
          </p:cNvSpPr>
          <p:nvPr>
            <p:ph type="title"/>
          </p:nvPr>
        </p:nvSpPr>
        <p:spPr>
          <a:xfrm>
            <a:off x="841248" y="3893769"/>
            <a:ext cx="5992550" cy="2319306"/>
          </a:xfrm>
        </p:spPr>
        <p:txBody>
          <a:bodyPr anchor="t">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4" name="Picture Placeholder 13">
            <a:extLst>
              <a:ext uri="{FF2B5EF4-FFF2-40B4-BE49-F238E27FC236}">
                <a16:creationId xmlns:a16="http://schemas.microsoft.com/office/drawing/2014/main" id="{2AEC60F9-EA79-4A18-B040-024AFB62FD5E}"/>
              </a:ext>
            </a:extLst>
          </p:cNvPr>
          <p:cNvSpPr>
            <a:spLocks noGrp="1"/>
          </p:cNvSpPr>
          <p:nvPr>
            <p:ph type="pic" sz="quarter" idx="13"/>
          </p:nvPr>
        </p:nvSpPr>
        <p:spPr>
          <a:xfrm>
            <a:off x="493776" y="484632"/>
            <a:ext cx="11210544" cy="3191256"/>
          </a:xfrm>
          <a:solidFill>
            <a:schemeClr val="accent6"/>
          </a:solidFill>
        </p:spPr>
        <p:txBody>
          <a:bodyPr/>
          <a:lstStyle/>
          <a:p>
            <a:endParaRPr lang="en-US" dirty="0"/>
          </a:p>
        </p:txBody>
      </p:sp>
      <p:sp>
        <p:nvSpPr>
          <p:cNvPr id="9" name="Content Placeholder 2">
            <a:extLst>
              <a:ext uri="{FF2B5EF4-FFF2-40B4-BE49-F238E27FC236}">
                <a16:creationId xmlns:a16="http://schemas.microsoft.com/office/drawing/2014/main" id="{83B88B7B-A749-40EA-A140-38D1E04EFF4F}"/>
              </a:ext>
            </a:extLst>
          </p:cNvPr>
          <p:cNvSpPr>
            <a:spLocks noGrp="1"/>
          </p:cNvSpPr>
          <p:nvPr>
            <p:ph idx="1"/>
          </p:nvPr>
        </p:nvSpPr>
        <p:spPr>
          <a:xfrm>
            <a:off x="6979133" y="3893770"/>
            <a:ext cx="4377714" cy="2319306"/>
          </a:xfrm>
        </p:spPr>
        <p:txBody>
          <a:bodyPr anchor="t">
            <a:normAutofit/>
          </a:bodyPr>
          <a:lstStyle>
            <a:lvl1pPr marL="0" indent="0">
              <a:buNone/>
              <a:defRPr sz="2800"/>
            </a:lvl1pPr>
          </a:lstStyle>
          <a:p>
            <a:pPr marL="228600" indent="-228600"/>
            <a:endParaRPr lang="en-US" sz="1800" dirty="0">
              <a:solidFill>
                <a:schemeClr val="tx2">
                  <a:alpha val="60000"/>
                </a:schemeClr>
              </a:solidFill>
            </a:endParaRP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a:xfrm>
            <a:off x="838200" y="6418489"/>
            <a:ext cx="2743200" cy="365125"/>
          </a:xfrm>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761320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352095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39876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90129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06973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76813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6776152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7408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1524"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solidFill>
                  <a:srgbClr val="FFFFFF"/>
                </a:solidFill>
              </a:rPr>
              <a:t>SAMPLE FOOTER TEXT</a:t>
            </a: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314514164"/>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699" r:id="rId3"/>
    <p:sldLayoutId id="2147483698" r:id="rId4"/>
    <p:sldLayoutId id="2147483686" r:id="rId5"/>
    <p:sldLayoutId id="2147483700" r:id="rId6"/>
    <p:sldLayoutId id="2147483705" r:id="rId7"/>
    <p:sldLayoutId id="2147483689" r:id="rId8"/>
    <p:sldLayoutId id="2147483704" r:id="rId9"/>
    <p:sldLayoutId id="2147483702" r:id="rId10"/>
    <p:sldLayoutId id="2147483701" r:id="rId11"/>
    <p:sldLayoutId id="2147483703" r:id="rId12"/>
    <p:sldLayoutId id="2147483685" r:id="rId13"/>
    <p:sldLayoutId id="2147483687" r:id="rId14"/>
    <p:sldLayoutId id="2147483688" r:id="rId15"/>
    <p:sldLayoutId id="2147483690" r:id="rId16"/>
    <p:sldLayoutId id="2147483692" r:id="rId17"/>
    <p:sldLayoutId id="2147483693" r:id="rId18"/>
  </p:sldLayoutIdLst>
  <p:hf hdr="0" dt="0"/>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32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9A7C78-91FD-4B88-953D-5A4363761BD1}"/>
              </a:ext>
            </a:extLst>
          </p:cNvPr>
          <p:cNvSpPr>
            <a:spLocks noGrp="1"/>
          </p:cNvSpPr>
          <p:nvPr>
            <p:ph type="ctrTitle"/>
          </p:nvPr>
        </p:nvSpPr>
        <p:spPr>
          <a:xfrm>
            <a:off x="1527050" y="1121700"/>
            <a:ext cx="9144000" cy="2387600"/>
          </a:xfrm>
        </p:spPr>
        <p:txBody>
          <a:bodyPr anchor="b" anchorCtr="0"/>
          <a:lstStyle/>
          <a:p>
            <a:r>
              <a:rPr lang="en-US" dirty="0"/>
              <a:t>Predictive Donor Modeling for the Colorado Mesa University Foundation</a:t>
            </a:r>
          </a:p>
        </p:txBody>
      </p:sp>
      <p:sp>
        <p:nvSpPr>
          <p:cNvPr id="5" name="Subtitle 4">
            <a:extLst>
              <a:ext uri="{FF2B5EF4-FFF2-40B4-BE49-F238E27FC236}">
                <a16:creationId xmlns:a16="http://schemas.microsoft.com/office/drawing/2014/main" id="{AD04BED3-CF2E-4CAD-8CE8-ED3ED12AEBD6}"/>
              </a:ext>
            </a:extLst>
          </p:cNvPr>
          <p:cNvSpPr>
            <a:spLocks noGrp="1"/>
          </p:cNvSpPr>
          <p:nvPr>
            <p:ph type="body" sz="quarter" idx="15"/>
          </p:nvPr>
        </p:nvSpPr>
        <p:spPr>
          <a:xfrm>
            <a:off x="1527175" y="3600450"/>
            <a:ext cx="9144000" cy="2451100"/>
          </a:xfrm>
        </p:spPr>
        <p:txBody>
          <a:bodyPr>
            <a:normAutofit fontScale="85000" lnSpcReduction="10000"/>
          </a:bodyPr>
          <a:lstStyle/>
          <a:p>
            <a:r>
              <a:rPr lang="en-US" dirty="0"/>
              <a:t>Jennifer Pudlewski</a:t>
            </a:r>
          </a:p>
          <a:p>
            <a:r>
              <a:rPr lang="en-US" dirty="0"/>
              <a:t>Colorado State University Global</a:t>
            </a:r>
          </a:p>
          <a:p>
            <a:r>
              <a:rPr lang="en-US" dirty="0"/>
              <a:t>MIS581 – Capstone - Business Intelligence and Data Analytics</a:t>
            </a:r>
          </a:p>
          <a:p>
            <a:r>
              <a:rPr lang="en-US" dirty="0" err="1"/>
              <a:t>Orenthio</a:t>
            </a:r>
            <a:r>
              <a:rPr lang="en-US" dirty="0"/>
              <a:t> Goodwin</a:t>
            </a:r>
          </a:p>
          <a:p>
            <a:r>
              <a:rPr lang="en-US" dirty="0"/>
              <a:t>11/2/2025</a:t>
            </a:r>
          </a:p>
        </p:txBody>
      </p:sp>
    </p:spTree>
    <p:extLst>
      <p:ext uri="{BB962C8B-B14F-4D97-AF65-F5344CB8AC3E}">
        <p14:creationId xmlns:p14="http://schemas.microsoft.com/office/powerpoint/2010/main" val="70358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57686-487A-4245-814E-58B1C25C675C}"/>
              </a:ext>
            </a:extLst>
          </p:cNvPr>
          <p:cNvSpPr>
            <a:spLocks noGrp="1"/>
          </p:cNvSpPr>
          <p:nvPr>
            <p:ph type="title"/>
          </p:nvPr>
        </p:nvSpPr>
        <p:spPr>
          <a:xfrm>
            <a:off x="838200" y="914399"/>
            <a:ext cx="5992550" cy="2827422"/>
          </a:xfrm>
        </p:spPr>
        <p:txBody>
          <a:bodyPr/>
          <a:lstStyle/>
          <a:p>
            <a:r>
              <a:rPr lang="en-US" dirty="0"/>
              <a:t>Abstract / Overview</a:t>
            </a:r>
          </a:p>
        </p:txBody>
      </p:sp>
      <p:sp>
        <p:nvSpPr>
          <p:cNvPr id="3" name="Content Placeholder 2">
            <a:extLst>
              <a:ext uri="{FF2B5EF4-FFF2-40B4-BE49-F238E27FC236}">
                <a16:creationId xmlns:a16="http://schemas.microsoft.com/office/drawing/2014/main" id="{DB6566BB-9632-4FD7-9FFC-FD3C43D3954E}"/>
              </a:ext>
            </a:extLst>
          </p:cNvPr>
          <p:cNvSpPr>
            <a:spLocks noGrp="1"/>
          </p:cNvSpPr>
          <p:nvPr>
            <p:ph idx="1"/>
          </p:nvPr>
        </p:nvSpPr>
        <p:spPr>
          <a:xfrm>
            <a:off x="694944" y="1865376"/>
            <a:ext cx="10789919" cy="4078225"/>
          </a:xfrm>
        </p:spPr>
        <p:txBody>
          <a:bodyPr>
            <a:normAutofit/>
          </a:bodyPr>
          <a:lstStyle/>
          <a:p>
            <a:pPr marL="457200" indent="-457200">
              <a:buFont typeface="Arial" panose="020B0604020202020204" pitchFamily="34" charset="0"/>
              <a:buChar char="•"/>
            </a:pPr>
            <a:r>
              <a:rPr lang="en-US" dirty="0"/>
              <a:t>This project analyzed ten years of donor data from the Colorado Mesa University Foundation.</a:t>
            </a:r>
          </a:p>
          <a:p>
            <a:pPr marL="457200" indent="-457200">
              <a:buFont typeface="Arial" panose="020B0604020202020204" pitchFamily="34" charset="0"/>
              <a:buChar char="•"/>
            </a:pPr>
            <a:r>
              <a:rPr lang="en-US" dirty="0"/>
              <a:t>Using R, logistic regression and random forest models were built to predict recurring donor behavior.</a:t>
            </a:r>
          </a:p>
          <a:p>
            <a:pPr marL="457200" indent="-457200">
              <a:buFont typeface="Arial" panose="020B0604020202020204" pitchFamily="34" charset="0"/>
              <a:buChar char="•"/>
            </a:pPr>
            <a:r>
              <a:rPr lang="en-US" dirty="0"/>
              <a:t>The goal was to identify key factors influencing donor loyalty and to support stewardship planning.</a:t>
            </a:r>
          </a:p>
        </p:txBody>
      </p:sp>
      <p:sp>
        <p:nvSpPr>
          <p:cNvPr id="18" name="Slide Number Placeholder 17">
            <a:extLst>
              <a:ext uri="{FF2B5EF4-FFF2-40B4-BE49-F238E27FC236}">
                <a16:creationId xmlns:a16="http://schemas.microsoft.com/office/drawing/2014/main" id="{41898C30-E58E-4EC9-8A27-DF1822A9863B}"/>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2</a:t>
            </a:fld>
            <a:endParaRPr lang="en-US"/>
          </a:p>
        </p:txBody>
      </p:sp>
    </p:spTree>
    <p:extLst>
      <p:ext uri="{BB962C8B-B14F-4D97-AF65-F5344CB8AC3E}">
        <p14:creationId xmlns:p14="http://schemas.microsoft.com/office/powerpoint/2010/main" val="22623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352-2AB0-4ADD-96B9-AB0FAECB557C}"/>
              </a:ext>
            </a:extLst>
          </p:cNvPr>
          <p:cNvSpPr>
            <a:spLocks noGrp="1"/>
          </p:cNvSpPr>
          <p:nvPr>
            <p:ph type="title"/>
          </p:nvPr>
        </p:nvSpPr>
        <p:spPr>
          <a:xfrm>
            <a:off x="841249" y="857251"/>
            <a:ext cx="9692639" cy="1099565"/>
          </a:xfrm>
        </p:spPr>
        <p:txBody>
          <a:bodyPr/>
          <a:lstStyle/>
          <a:p>
            <a:r>
              <a:rPr lang="en-US" dirty="0"/>
              <a:t>Project Objectives</a:t>
            </a:r>
          </a:p>
        </p:txBody>
      </p:sp>
      <p:sp>
        <p:nvSpPr>
          <p:cNvPr id="18" name="Slide Number Placeholder 17">
            <a:extLst>
              <a:ext uri="{FF2B5EF4-FFF2-40B4-BE49-F238E27FC236}">
                <a16:creationId xmlns:a16="http://schemas.microsoft.com/office/drawing/2014/main" id="{7CCCE07D-3B17-42EC-AE9C-222D13143DF6}"/>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3</a:t>
            </a:fld>
            <a:endParaRPr lang="en-US"/>
          </a:p>
        </p:txBody>
      </p:sp>
      <p:sp>
        <p:nvSpPr>
          <p:cNvPr id="13" name="Content Placeholder 2">
            <a:extLst>
              <a:ext uri="{FF2B5EF4-FFF2-40B4-BE49-F238E27FC236}">
                <a16:creationId xmlns:a16="http://schemas.microsoft.com/office/drawing/2014/main" id="{F1E6917B-6FF6-704C-F7DB-1CEE5DDD91EA}"/>
              </a:ext>
            </a:extLst>
          </p:cNvPr>
          <p:cNvSpPr txBox="1">
            <a:spLocks/>
          </p:cNvSpPr>
          <p:nvPr/>
        </p:nvSpPr>
        <p:spPr>
          <a:xfrm>
            <a:off x="701040" y="3180588"/>
            <a:ext cx="10789919" cy="407822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Clr>
                <a:schemeClr val="tx2">
                  <a:lumMod val="10000"/>
                  <a:lumOff val="90000"/>
                </a:schemeClr>
              </a:buClr>
              <a:buSzPct val="80000"/>
              <a:buFont typeface="Wingdings" panose="05000000000000000000" pitchFamily="2" charset="2"/>
              <a:buNone/>
              <a:defRPr sz="20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eaLnBrk="0" fontAlgn="base" hangingPunct="0">
              <a:spcBef>
                <a:spcPct val="0"/>
              </a:spcBef>
              <a:spcAft>
                <a:spcPct val="0"/>
              </a:spcAft>
              <a:buClrTx/>
              <a:buSzTx/>
              <a:buFontTx/>
              <a:buChar char="•"/>
            </a:pPr>
            <a:r>
              <a:rPr lang="en-US" altLang="en-US" sz="2800" dirty="0"/>
              <a:t>Identify key predictors of recurring donor behavior</a:t>
            </a:r>
          </a:p>
          <a:p>
            <a:pPr lvl="0" eaLnBrk="0" fontAlgn="base" hangingPunct="0">
              <a:spcBef>
                <a:spcPct val="0"/>
              </a:spcBef>
              <a:spcAft>
                <a:spcPct val="0"/>
              </a:spcAft>
              <a:buClrTx/>
              <a:buSzTx/>
              <a:buFontTx/>
              <a:buChar char="•"/>
            </a:pPr>
            <a:r>
              <a:rPr lang="en-US" altLang="en-US" sz="2800" dirty="0"/>
              <a:t>Evaluate model performance using R-based analytics</a:t>
            </a:r>
          </a:p>
          <a:p>
            <a:pPr lvl="0" eaLnBrk="0" fontAlgn="base" hangingPunct="0">
              <a:spcBef>
                <a:spcPct val="0"/>
              </a:spcBef>
              <a:spcAft>
                <a:spcPct val="0"/>
              </a:spcAft>
              <a:buClrTx/>
              <a:buSzTx/>
              <a:buFontTx/>
              <a:buChar char="•"/>
            </a:pPr>
            <a:r>
              <a:rPr lang="en-US" altLang="en-US" sz="2800" dirty="0"/>
              <a:t>Support data-driven donor retention strategies</a:t>
            </a:r>
          </a:p>
          <a:p>
            <a:pPr lvl="0" eaLnBrk="0" fontAlgn="base" hangingPunct="0">
              <a:spcBef>
                <a:spcPct val="0"/>
              </a:spcBef>
              <a:spcAft>
                <a:spcPct val="0"/>
              </a:spcAft>
              <a:buClrTx/>
              <a:buSzTx/>
              <a:buFontTx/>
              <a:buChar char="•"/>
            </a:pPr>
            <a:r>
              <a:rPr lang="en-US" altLang="en-US" sz="2800" dirty="0"/>
              <a:t>Ensure ethical handling of institutional data</a:t>
            </a:r>
          </a:p>
        </p:txBody>
      </p:sp>
      <p:sp>
        <p:nvSpPr>
          <p:cNvPr id="25" name="Rectangle 7">
            <a:extLst>
              <a:ext uri="{FF2B5EF4-FFF2-40B4-BE49-F238E27FC236}">
                <a16:creationId xmlns:a16="http://schemas.microsoft.com/office/drawing/2014/main" id="{B93F47DE-B9B9-9556-3BB1-B8DB05237CC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0342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E50F-247A-4628-90BB-62A60E39664C}"/>
              </a:ext>
            </a:extLst>
          </p:cNvPr>
          <p:cNvSpPr>
            <a:spLocks noGrp="1"/>
          </p:cNvSpPr>
          <p:nvPr>
            <p:ph type="ctrTitle"/>
          </p:nvPr>
        </p:nvSpPr>
        <p:spPr>
          <a:xfrm>
            <a:off x="838200" y="806450"/>
            <a:ext cx="5322618" cy="1983049"/>
          </a:xfrm>
        </p:spPr>
        <p:txBody>
          <a:bodyPr/>
          <a:lstStyle/>
          <a:p>
            <a:r>
              <a:rPr lang="en-US" dirty="0"/>
              <a:t>Dataset and Methodology</a:t>
            </a:r>
          </a:p>
        </p:txBody>
      </p:sp>
      <p:sp>
        <p:nvSpPr>
          <p:cNvPr id="3" name="Subtitle 2">
            <a:extLst>
              <a:ext uri="{FF2B5EF4-FFF2-40B4-BE49-F238E27FC236}">
                <a16:creationId xmlns:a16="http://schemas.microsoft.com/office/drawing/2014/main" id="{DD2A8BE8-DC21-47DE-B6F3-7DC95B43C52E}"/>
              </a:ext>
            </a:extLst>
          </p:cNvPr>
          <p:cNvSpPr>
            <a:spLocks noGrp="1"/>
          </p:cNvSpPr>
          <p:nvPr>
            <p:ph type="body" sz="quarter" idx="15"/>
          </p:nvPr>
        </p:nvSpPr>
        <p:spPr>
          <a:xfrm>
            <a:off x="838200" y="2789499"/>
            <a:ext cx="7519416" cy="3262051"/>
          </a:xfrm>
        </p:spPr>
        <p:txBody>
          <a:bodyPr>
            <a:normAutofit/>
          </a:bodyPr>
          <a:lstStyle/>
          <a:p>
            <a:pPr marL="457200" indent="-457200">
              <a:buFont typeface="Arial" panose="020B0604020202020204" pitchFamily="34" charset="0"/>
              <a:buChar char="•"/>
            </a:pPr>
            <a:r>
              <a:rPr lang="en-US" sz="2400" dirty="0"/>
              <a:t>The dataset includes 10 years of giving history from the Colorado Mesa University Foundation.</a:t>
            </a:r>
          </a:p>
          <a:p>
            <a:pPr marL="457200" indent="-457200">
              <a:buFont typeface="Arial" panose="020B0604020202020204" pitchFamily="34" charset="0"/>
              <a:buChar char="•"/>
            </a:pPr>
            <a:r>
              <a:rPr lang="en-US" sz="2400" dirty="0"/>
              <a:t>All data was anonymized; no personal identifiers were used.</a:t>
            </a:r>
          </a:p>
          <a:p>
            <a:pPr marL="457200" indent="-457200">
              <a:buFont typeface="Arial" panose="020B0604020202020204" pitchFamily="34" charset="0"/>
              <a:buChar char="•"/>
            </a:pPr>
            <a:r>
              <a:rPr lang="en-US" sz="2400" dirty="0"/>
              <a:t>Data was cleaned, summarized, and modeled in R using logistic regression and random forest methods.</a:t>
            </a:r>
          </a:p>
        </p:txBody>
      </p:sp>
      <p:pic>
        <p:nvPicPr>
          <p:cNvPr id="10" name="Picture 9" descr="A screenshot of a data sheet&#10;&#10;AI-generated content may be incorrect.">
            <a:extLst>
              <a:ext uri="{FF2B5EF4-FFF2-40B4-BE49-F238E27FC236}">
                <a16:creationId xmlns:a16="http://schemas.microsoft.com/office/drawing/2014/main" id="{67755151-374F-F7B1-2706-1411BB51A8F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436" r="23504"/>
          <a:stretch>
            <a:fillRect/>
          </a:stretch>
        </p:blipFill>
        <p:spPr bwMode="auto">
          <a:xfrm>
            <a:off x="8531098" y="479425"/>
            <a:ext cx="3213100" cy="3155950"/>
          </a:xfrm>
          <a:prstGeom prst="rect">
            <a:avLst/>
          </a:prstGeom>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2DF64171-9E95-90C3-4638-4FDDF0299212}"/>
              </a:ext>
            </a:extLst>
          </p:cNvPr>
          <p:cNvSpPr txBox="1"/>
          <p:nvPr/>
        </p:nvSpPr>
        <p:spPr>
          <a:xfrm>
            <a:off x="8570904" y="3635375"/>
            <a:ext cx="3133487" cy="369332"/>
          </a:xfrm>
          <a:prstGeom prst="rect">
            <a:avLst/>
          </a:prstGeom>
          <a:noFill/>
        </p:spPr>
        <p:txBody>
          <a:bodyPr wrap="none" rtlCol="0">
            <a:spAutoFit/>
          </a:bodyPr>
          <a:lstStyle/>
          <a:p>
            <a:r>
              <a:rPr lang="en-US" dirty="0"/>
              <a:t>Figure 1: Summary Statistics</a:t>
            </a:r>
          </a:p>
        </p:txBody>
      </p:sp>
    </p:spTree>
    <p:extLst>
      <p:ext uri="{BB962C8B-B14F-4D97-AF65-F5344CB8AC3E}">
        <p14:creationId xmlns:p14="http://schemas.microsoft.com/office/powerpoint/2010/main" val="2693196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5648-EC4F-4D61-9453-4E038C0332BD}"/>
              </a:ext>
            </a:extLst>
          </p:cNvPr>
          <p:cNvSpPr>
            <a:spLocks noGrp="1"/>
          </p:cNvSpPr>
          <p:nvPr>
            <p:ph type="title"/>
          </p:nvPr>
        </p:nvSpPr>
        <p:spPr>
          <a:xfrm>
            <a:off x="838200" y="681037"/>
            <a:ext cx="10515600" cy="1325563"/>
          </a:xfrm>
        </p:spPr>
        <p:txBody>
          <a:bodyPr/>
          <a:lstStyle/>
          <a:p>
            <a:r>
              <a:rPr lang="en-US" dirty="0"/>
              <a:t>Logistic Regression Model</a:t>
            </a:r>
          </a:p>
        </p:txBody>
      </p:sp>
      <p:sp>
        <p:nvSpPr>
          <p:cNvPr id="7" name="Slide Number Placeholder 6">
            <a:extLst>
              <a:ext uri="{FF2B5EF4-FFF2-40B4-BE49-F238E27FC236}">
                <a16:creationId xmlns:a16="http://schemas.microsoft.com/office/drawing/2014/main" id="{E7BA18D9-DF9D-45C8-A71D-661F2BD20474}"/>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5</a:t>
            </a:fld>
            <a:endParaRPr lang="en-US"/>
          </a:p>
        </p:txBody>
      </p:sp>
      <p:sp>
        <p:nvSpPr>
          <p:cNvPr id="5" name="Content Placeholder 4">
            <a:extLst>
              <a:ext uri="{FF2B5EF4-FFF2-40B4-BE49-F238E27FC236}">
                <a16:creationId xmlns:a16="http://schemas.microsoft.com/office/drawing/2014/main" id="{A646E71F-CF13-0A5F-BE04-6276D3D8B364}"/>
              </a:ext>
            </a:extLst>
          </p:cNvPr>
          <p:cNvSpPr>
            <a:spLocks noGrp="1"/>
          </p:cNvSpPr>
          <p:nvPr>
            <p:ph idx="1"/>
          </p:nvPr>
        </p:nvSpPr>
        <p:spPr>
          <a:xfrm>
            <a:off x="838200" y="2178657"/>
            <a:ext cx="6586728" cy="3998306"/>
          </a:xfrm>
        </p:spPr>
        <p:txBody>
          <a:bodyPr>
            <a:normAutofit/>
          </a:bodyPr>
          <a:lstStyle/>
          <a:p>
            <a:pPr marL="228600" indent="0">
              <a:buNone/>
            </a:pPr>
            <a:r>
              <a:rPr lang="en-US" sz="2000" dirty="0"/>
              <a:t>Predictors:</a:t>
            </a:r>
          </a:p>
          <a:p>
            <a:r>
              <a:rPr lang="en-US" sz="2000" dirty="0"/>
              <a:t>Current Giving Streak</a:t>
            </a:r>
          </a:p>
          <a:p>
            <a:r>
              <a:rPr lang="en-US" sz="2000" dirty="0"/>
              <a:t>Recognition Gift Total Last Year… Ten Years</a:t>
            </a:r>
          </a:p>
          <a:p>
            <a:pPr marL="228600" indent="0">
              <a:buNone/>
            </a:pPr>
            <a:r>
              <a:rPr lang="en-US" sz="2000" dirty="0"/>
              <a:t>The model showed strong predictive accuracy and interpretability.</a:t>
            </a:r>
            <a:br>
              <a:rPr lang="en-US" sz="2000" dirty="0"/>
            </a:br>
            <a:r>
              <a:rPr lang="en-US" sz="2000" dirty="0"/>
              <a:t>It effectively distinguished between recurring and one-time donors.</a:t>
            </a:r>
          </a:p>
          <a:p>
            <a:endParaRPr lang="en-US" dirty="0"/>
          </a:p>
        </p:txBody>
      </p:sp>
      <p:pic>
        <p:nvPicPr>
          <p:cNvPr id="8" name="Picture 7" descr="A screenshot of a computer&#10;&#10;AI-generated content may be incorrect.">
            <a:extLst>
              <a:ext uri="{FF2B5EF4-FFF2-40B4-BE49-F238E27FC236}">
                <a16:creationId xmlns:a16="http://schemas.microsoft.com/office/drawing/2014/main" id="{B89A5968-131F-FDC0-9C8E-5409613B090D}"/>
              </a:ext>
            </a:extLst>
          </p:cNvPr>
          <p:cNvPicPr>
            <a:picLocks noChangeAspect="1"/>
          </p:cNvPicPr>
          <p:nvPr/>
        </p:nvPicPr>
        <p:blipFill>
          <a:blip r:embed="rId3"/>
          <a:stretch>
            <a:fillRect/>
          </a:stretch>
        </p:blipFill>
        <p:spPr>
          <a:xfrm>
            <a:off x="7967940" y="1682496"/>
            <a:ext cx="3568740" cy="2897314"/>
          </a:xfrm>
          <a:prstGeom prst="rect">
            <a:avLst/>
          </a:prstGeom>
        </p:spPr>
      </p:pic>
      <p:sp>
        <p:nvSpPr>
          <p:cNvPr id="9" name="TextBox 8">
            <a:extLst>
              <a:ext uri="{FF2B5EF4-FFF2-40B4-BE49-F238E27FC236}">
                <a16:creationId xmlns:a16="http://schemas.microsoft.com/office/drawing/2014/main" id="{36AA1085-B327-F24C-A431-C2DF206789F9}"/>
              </a:ext>
            </a:extLst>
          </p:cNvPr>
          <p:cNvSpPr txBox="1"/>
          <p:nvPr/>
        </p:nvSpPr>
        <p:spPr>
          <a:xfrm>
            <a:off x="7769351" y="4579810"/>
            <a:ext cx="4425697" cy="646331"/>
          </a:xfrm>
          <a:prstGeom prst="rect">
            <a:avLst/>
          </a:prstGeom>
          <a:noFill/>
        </p:spPr>
        <p:txBody>
          <a:bodyPr wrap="square" rtlCol="0">
            <a:spAutoFit/>
          </a:bodyPr>
          <a:lstStyle/>
          <a:p>
            <a:r>
              <a:rPr lang="en-US" dirty="0"/>
              <a:t>Figure 2: Summary of Logistic Regression Model</a:t>
            </a:r>
          </a:p>
        </p:txBody>
      </p:sp>
    </p:spTree>
    <p:extLst>
      <p:ext uri="{BB962C8B-B14F-4D97-AF65-F5344CB8AC3E}">
        <p14:creationId xmlns:p14="http://schemas.microsoft.com/office/powerpoint/2010/main" val="226219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91B0-6EB1-465F-8485-17B0C7B5E4D2}"/>
              </a:ext>
            </a:extLst>
          </p:cNvPr>
          <p:cNvSpPr>
            <a:spLocks noGrp="1"/>
          </p:cNvSpPr>
          <p:nvPr>
            <p:ph type="title"/>
          </p:nvPr>
        </p:nvSpPr>
        <p:spPr>
          <a:xfrm>
            <a:off x="838200" y="681037"/>
            <a:ext cx="10515600" cy="1325563"/>
          </a:xfrm>
        </p:spPr>
        <p:txBody>
          <a:bodyPr/>
          <a:lstStyle/>
          <a:p>
            <a:r>
              <a:rPr lang="en-US" dirty="0"/>
              <a:t>Random Forest Model</a:t>
            </a:r>
          </a:p>
        </p:txBody>
      </p:sp>
      <p:sp>
        <p:nvSpPr>
          <p:cNvPr id="33" name="Slide Number Placeholder 32">
            <a:extLst>
              <a:ext uri="{FF2B5EF4-FFF2-40B4-BE49-F238E27FC236}">
                <a16:creationId xmlns:a16="http://schemas.microsoft.com/office/drawing/2014/main" id="{E5D12020-B189-4032-A749-FA4A26615782}"/>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6</a:t>
            </a:fld>
            <a:endParaRPr lang="en-US"/>
          </a:p>
        </p:txBody>
      </p:sp>
      <p:sp>
        <p:nvSpPr>
          <p:cNvPr id="41" name="Content Placeholder 4">
            <a:extLst>
              <a:ext uri="{FF2B5EF4-FFF2-40B4-BE49-F238E27FC236}">
                <a16:creationId xmlns:a16="http://schemas.microsoft.com/office/drawing/2014/main" id="{1B3E45E4-37E3-84AC-B1D2-3BF4D42A4259}"/>
              </a:ext>
            </a:extLst>
          </p:cNvPr>
          <p:cNvSpPr txBox="1">
            <a:spLocks/>
          </p:cNvSpPr>
          <p:nvPr/>
        </p:nvSpPr>
        <p:spPr>
          <a:xfrm>
            <a:off x="838200" y="2006600"/>
            <a:ext cx="6586728" cy="3998306"/>
          </a:xfrm>
          <a:prstGeom prst="rect">
            <a:avLst/>
          </a:prstGeom>
        </p:spPr>
        <p:txBody>
          <a:bodyPr>
            <a:normAutofit/>
          </a:bodyPr>
          <a:lst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32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0">
              <a:buNone/>
            </a:pPr>
            <a:r>
              <a:rPr lang="en-US" sz="2000" dirty="0"/>
              <a:t>The random forest model achieved near-perfect accuracy.</a:t>
            </a:r>
            <a:br>
              <a:rPr lang="en-US" sz="2000" dirty="0"/>
            </a:br>
            <a:r>
              <a:rPr lang="en-US" sz="2000" dirty="0"/>
              <a:t>Top predictors were:</a:t>
            </a:r>
          </a:p>
          <a:p>
            <a:r>
              <a:rPr lang="en-US" sz="2000" dirty="0"/>
              <a:t>Current Giving Streak</a:t>
            </a:r>
          </a:p>
          <a:p>
            <a:r>
              <a:rPr lang="en-US" sz="2000" dirty="0"/>
              <a:t>Recognition Gift Total Last Ten Years</a:t>
            </a:r>
          </a:p>
          <a:p>
            <a:pPr marL="228600" indent="0">
              <a:buNone/>
            </a:pPr>
            <a:r>
              <a:rPr lang="en-US" sz="2000" dirty="0"/>
              <a:t>This model captured nonlinear relationships but was less interpretable than logistic regression.</a:t>
            </a:r>
          </a:p>
          <a:p>
            <a:endParaRPr lang="en-US" dirty="0"/>
          </a:p>
        </p:txBody>
      </p:sp>
      <p:pic>
        <p:nvPicPr>
          <p:cNvPr id="42" name="Picture 41" descr="A screenshot of a computer&#10;&#10;AI-generated content may be incorrect.">
            <a:extLst>
              <a:ext uri="{FF2B5EF4-FFF2-40B4-BE49-F238E27FC236}">
                <a16:creationId xmlns:a16="http://schemas.microsoft.com/office/drawing/2014/main" id="{278B276A-2E9B-A459-AAF4-835954B10968}"/>
              </a:ext>
            </a:extLst>
          </p:cNvPr>
          <p:cNvPicPr>
            <a:picLocks noChangeAspect="1"/>
          </p:cNvPicPr>
          <p:nvPr/>
        </p:nvPicPr>
        <p:blipFill>
          <a:blip r:embed="rId3"/>
          <a:stretch>
            <a:fillRect/>
          </a:stretch>
        </p:blipFill>
        <p:spPr>
          <a:xfrm>
            <a:off x="7878064" y="513144"/>
            <a:ext cx="3789429" cy="3704844"/>
          </a:xfrm>
          <a:prstGeom prst="rect">
            <a:avLst/>
          </a:prstGeom>
        </p:spPr>
      </p:pic>
      <p:sp>
        <p:nvSpPr>
          <p:cNvPr id="43" name="TextBox 42">
            <a:extLst>
              <a:ext uri="{FF2B5EF4-FFF2-40B4-BE49-F238E27FC236}">
                <a16:creationId xmlns:a16="http://schemas.microsoft.com/office/drawing/2014/main" id="{CC861B3D-2BB1-D86C-6EDA-5A9875D0E5AF}"/>
              </a:ext>
            </a:extLst>
          </p:cNvPr>
          <p:cNvSpPr txBox="1"/>
          <p:nvPr/>
        </p:nvSpPr>
        <p:spPr>
          <a:xfrm>
            <a:off x="7878064" y="4385880"/>
            <a:ext cx="3475736" cy="646331"/>
          </a:xfrm>
          <a:prstGeom prst="rect">
            <a:avLst/>
          </a:prstGeom>
          <a:noFill/>
        </p:spPr>
        <p:txBody>
          <a:bodyPr wrap="square" rtlCol="0">
            <a:spAutoFit/>
          </a:bodyPr>
          <a:lstStyle/>
          <a:p>
            <a:r>
              <a:rPr lang="en-US" dirty="0"/>
              <a:t>Figure 3: Predicting with the Random Forest Model</a:t>
            </a:r>
          </a:p>
        </p:txBody>
      </p:sp>
    </p:spTree>
    <p:extLst>
      <p:ext uri="{BB962C8B-B14F-4D97-AF65-F5344CB8AC3E}">
        <p14:creationId xmlns:p14="http://schemas.microsoft.com/office/powerpoint/2010/main" val="867604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BABB4-E25C-C975-7A52-EE4BB4CA9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EE6EF-09CB-24CB-13C2-DD8EF001E41B}"/>
              </a:ext>
            </a:extLst>
          </p:cNvPr>
          <p:cNvSpPr>
            <a:spLocks noGrp="1"/>
          </p:cNvSpPr>
          <p:nvPr>
            <p:ph type="ctrTitle"/>
          </p:nvPr>
        </p:nvSpPr>
        <p:spPr>
          <a:xfrm>
            <a:off x="838200" y="806451"/>
            <a:ext cx="5745480" cy="1534414"/>
          </a:xfrm>
        </p:spPr>
        <p:txBody>
          <a:bodyPr/>
          <a:lstStyle/>
          <a:p>
            <a:r>
              <a:rPr lang="en-US" dirty="0"/>
              <a:t>Predictive Findings</a:t>
            </a:r>
          </a:p>
        </p:txBody>
      </p:sp>
      <p:sp>
        <p:nvSpPr>
          <p:cNvPr id="3" name="Subtitle 2">
            <a:extLst>
              <a:ext uri="{FF2B5EF4-FFF2-40B4-BE49-F238E27FC236}">
                <a16:creationId xmlns:a16="http://schemas.microsoft.com/office/drawing/2014/main" id="{85167F6A-5DB6-6BDB-5CEC-073E9B1595B5}"/>
              </a:ext>
            </a:extLst>
          </p:cNvPr>
          <p:cNvSpPr>
            <a:spLocks noGrp="1"/>
          </p:cNvSpPr>
          <p:nvPr>
            <p:ph type="body" sz="quarter" idx="15"/>
          </p:nvPr>
        </p:nvSpPr>
        <p:spPr>
          <a:xfrm>
            <a:off x="838200" y="2789499"/>
            <a:ext cx="7519416" cy="3262051"/>
          </a:xfrm>
        </p:spPr>
        <p:txBody>
          <a:bodyPr>
            <a:normAutofit/>
          </a:bodyPr>
          <a:lstStyle/>
          <a:p>
            <a:pPr marL="457200" indent="-457200">
              <a:buFont typeface="Arial" panose="020B0604020202020204" pitchFamily="34" charset="0"/>
              <a:buChar char="•"/>
            </a:pPr>
            <a:r>
              <a:rPr lang="en-US" sz="2400" dirty="0"/>
              <a:t>Both models confirmed that donor recurrence can be predicted using historical giving data.</a:t>
            </a:r>
          </a:p>
          <a:p>
            <a:pPr marL="457200" indent="-457200">
              <a:buFont typeface="Arial" panose="020B0604020202020204" pitchFamily="34" charset="0"/>
              <a:buChar char="•"/>
            </a:pPr>
            <a:r>
              <a:rPr lang="en-US" sz="2400" dirty="0"/>
              <a:t>ROC curves and AUC values demonstrated strong classification power.</a:t>
            </a:r>
          </a:p>
          <a:p>
            <a:pPr marL="457200" indent="-457200">
              <a:buFont typeface="Arial" panose="020B0604020202020204" pitchFamily="34" charset="0"/>
              <a:buChar char="•"/>
            </a:pPr>
            <a:endParaRPr lang="en-US" sz="2400" dirty="0"/>
          </a:p>
          <a:p>
            <a:r>
              <a:rPr lang="en-US" sz="2400" dirty="0"/>
              <a:t>(Williams &amp; Nguyen, 2021; Shmueli et al., 2020)</a:t>
            </a:r>
          </a:p>
        </p:txBody>
      </p:sp>
      <p:pic>
        <p:nvPicPr>
          <p:cNvPr id="4" name="Picture 3" descr="A screenshot of a computer&#10;&#10;AI-generated content may be incorrect.">
            <a:extLst>
              <a:ext uri="{FF2B5EF4-FFF2-40B4-BE49-F238E27FC236}">
                <a16:creationId xmlns:a16="http://schemas.microsoft.com/office/drawing/2014/main" id="{DB124F7D-B212-4672-4213-C88F4AEA8358}"/>
              </a:ext>
            </a:extLst>
          </p:cNvPr>
          <p:cNvPicPr>
            <a:picLocks noChangeAspect="1"/>
          </p:cNvPicPr>
          <p:nvPr/>
        </p:nvPicPr>
        <p:blipFill>
          <a:blip r:embed="rId3"/>
          <a:stretch>
            <a:fillRect/>
          </a:stretch>
        </p:blipFill>
        <p:spPr>
          <a:xfrm>
            <a:off x="8784844" y="470027"/>
            <a:ext cx="2892288" cy="3262051"/>
          </a:xfrm>
          <a:prstGeom prst="rect">
            <a:avLst/>
          </a:prstGeom>
        </p:spPr>
      </p:pic>
      <p:sp>
        <p:nvSpPr>
          <p:cNvPr id="5" name="TextBox 4">
            <a:extLst>
              <a:ext uri="{FF2B5EF4-FFF2-40B4-BE49-F238E27FC236}">
                <a16:creationId xmlns:a16="http://schemas.microsoft.com/office/drawing/2014/main" id="{70B28536-7174-F523-386E-930086864B6D}"/>
              </a:ext>
            </a:extLst>
          </p:cNvPr>
          <p:cNvSpPr txBox="1"/>
          <p:nvPr/>
        </p:nvSpPr>
        <p:spPr>
          <a:xfrm>
            <a:off x="8663454" y="3877056"/>
            <a:ext cx="2892288" cy="923330"/>
          </a:xfrm>
          <a:prstGeom prst="rect">
            <a:avLst/>
          </a:prstGeom>
          <a:noFill/>
        </p:spPr>
        <p:txBody>
          <a:bodyPr wrap="square" rtlCol="0">
            <a:spAutoFit/>
          </a:bodyPr>
          <a:lstStyle/>
          <a:p>
            <a:r>
              <a:rPr lang="en-US" dirty="0"/>
              <a:t>Figure 4: Confusion Matrix for Logistic Regression Model</a:t>
            </a:r>
          </a:p>
        </p:txBody>
      </p:sp>
    </p:spTree>
    <p:extLst>
      <p:ext uri="{BB962C8B-B14F-4D97-AF65-F5344CB8AC3E}">
        <p14:creationId xmlns:p14="http://schemas.microsoft.com/office/powerpoint/2010/main" val="272709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B8232-CF73-714F-825C-D3ED56F6B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1F466-8AFC-08BA-9034-492028C20822}"/>
              </a:ext>
            </a:extLst>
          </p:cNvPr>
          <p:cNvSpPr>
            <a:spLocks noGrp="1"/>
          </p:cNvSpPr>
          <p:nvPr>
            <p:ph type="title"/>
          </p:nvPr>
        </p:nvSpPr>
        <p:spPr>
          <a:xfrm>
            <a:off x="838200" y="681037"/>
            <a:ext cx="10515600" cy="1325563"/>
          </a:xfrm>
        </p:spPr>
        <p:txBody>
          <a:bodyPr>
            <a:normAutofit fontScale="90000"/>
          </a:bodyPr>
          <a:lstStyle/>
          <a:p>
            <a:r>
              <a:rPr lang="en-US" dirty="0"/>
              <a:t>Ethical and Technological Considerations</a:t>
            </a:r>
          </a:p>
        </p:txBody>
      </p:sp>
      <p:sp>
        <p:nvSpPr>
          <p:cNvPr id="33" name="Slide Number Placeholder 32">
            <a:extLst>
              <a:ext uri="{FF2B5EF4-FFF2-40B4-BE49-F238E27FC236}">
                <a16:creationId xmlns:a16="http://schemas.microsoft.com/office/drawing/2014/main" id="{F3353DC6-29BA-A094-AE3B-D8E57D6CF8FA}"/>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8</a:t>
            </a:fld>
            <a:endParaRPr lang="en-US"/>
          </a:p>
        </p:txBody>
      </p:sp>
      <p:sp>
        <p:nvSpPr>
          <p:cNvPr id="6" name="Content Placeholder 4">
            <a:extLst>
              <a:ext uri="{FF2B5EF4-FFF2-40B4-BE49-F238E27FC236}">
                <a16:creationId xmlns:a16="http://schemas.microsoft.com/office/drawing/2014/main" id="{D1048F02-D8D3-B1C8-3F32-B404C856B9B3}"/>
              </a:ext>
            </a:extLst>
          </p:cNvPr>
          <p:cNvSpPr txBox="1">
            <a:spLocks/>
          </p:cNvSpPr>
          <p:nvPr/>
        </p:nvSpPr>
        <p:spPr>
          <a:xfrm>
            <a:off x="838200" y="2178657"/>
            <a:ext cx="10515600" cy="3998306"/>
          </a:xfrm>
          <a:prstGeom prst="rect">
            <a:avLst/>
          </a:prstGeom>
        </p:spPr>
        <p:txBody>
          <a:bodyPr>
            <a:normAutofit/>
          </a:bodyPr>
          <a:lst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32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50000"/>
              </a:lnSpc>
              <a:spcBef>
                <a:spcPct val="0"/>
              </a:spcBef>
              <a:spcAft>
                <a:spcPct val="0"/>
              </a:spcAft>
              <a:buClrTx/>
              <a:buSzTx/>
              <a:buFontTx/>
              <a:buChar char="•"/>
            </a:pPr>
            <a:r>
              <a:rPr lang="en-US" altLang="en-US" sz="2800" dirty="0"/>
              <a:t>All data was anonymized and de-identified</a:t>
            </a:r>
          </a:p>
          <a:p>
            <a:pPr marL="0" lvl="0" indent="0" eaLnBrk="0" fontAlgn="base" hangingPunct="0">
              <a:lnSpc>
                <a:spcPct val="150000"/>
              </a:lnSpc>
              <a:spcBef>
                <a:spcPct val="0"/>
              </a:spcBef>
              <a:spcAft>
                <a:spcPct val="0"/>
              </a:spcAft>
              <a:buClrTx/>
              <a:buSzTx/>
              <a:buFontTx/>
              <a:buChar char="•"/>
            </a:pPr>
            <a:r>
              <a:rPr lang="en-US" altLang="en-US" sz="2800" dirty="0"/>
              <a:t>Followed AFP (2023) Code of Ethical Standards</a:t>
            </a:r>
          </a:p>
          <a:p>
            <a:pPr marL="0" lvl="0" indent="0" eaLnBrk="0" fontAlgn="base" hangingPunct="0">
              <a:lnSpc>
                <a:spcPct val="150000"/>
              </a:lnSpc>
              <a:spcBef>
                <a:spcPct val="0"/>
              </a:spcBef>
              <a:spcAft>
                <a:spcPct val="0"/>
              </a:spcAft>
              <a:buClrTx/>
              <a:buSzTx/>
              <a:buFontTx/>
              <a:buChar char="•"/>
            </a:pPr>
            <a:r>
              <a:rPr lang="en-US" altLang="en-US" sz="2800" dirty="0"/>
              <a:t>Conducted analysis in R for transparency and reproducibility</a:t>
            </a:r>
          </a:p>
          <a:p>
            <a:pPr marL="0" lvl="0" indent="0" eaLnBrk="0" fontAlgn="base" hangingPunct="0">
              <a:lnSpc>
                <a:spcPct val="150000"/>
              </a:lnSpc>
              <a:spcBef>
                <a:spcPct val="0"/>
              </a:spcBef>
              <a:spcAft>
                <a:spcPct val="0"/>
              </a:spcAft>
              <a:buClrTx/>
              <a:buSzTx/>
              <a:buFontTx/>
              <a:buChar char="•"/>
            </a:pPr>
            <a:r>
              <a:rPr lang="en-US" altLang="en-US" sz="2800" dirty="0"/>
              <a:t>Avoided bias or overfitting through validation</a:t>
            </a:r>
          </a:p>
          <a:p>
            <a:pPr marL="0" lvl="0" indent="0" eaLnBrk="0" fontAlgn="base" hangingPunct="0">
              <a:lnSpc>
                <a:spcPct val="150000"/>
              </a:lnSpc>
              <a:spcBef>
                <a:spcPct val="0"/>
              </a:spcBef>
              <a:spcAft>
                <a:spcPct val="0"/>
              </a:spcAft>
              <a:buClrTx/>
              <a:buSzTx/>
              <a:buFontTx/>
              <a:buChar char="•"/>
            </a:pPr>
            <a:endParaRPr lang="en-US" sz="2800" dirty="0"/>
          </a:p>
          <a:p>
            <a:pPr marL="0" lvl="0" indent="0" eaLnBrk="0" fontAlgn="base" hangingPunct="0">
              <a:lnSpc>
                <a:spcPct val="150000"/>
              </a:lnSpc>
              <a:spcBef>
                <a:spcPct val="0"/>
              </a:spcBef>
              <a:spcAft>
                <a:spcPct val="0"/>
              </a:spcAft>
              <a:buClrTx/>
              <a:buSzTx/>
              <a:buNone/>
            </a:pPr>
            <a:r>
              <a:rPr lang="en-US" sz="2400" dirty="0"/>
              <a:t>(Association of Fundraising Professionals, 2023; Breeze, 2017)</a:t>
            </a:r>
          </a:p>
        </p:txBody>
      </p:sp>
      <p:sp>
        <p:nvSpPr>
          <p:cNvPr id="7" name="Rectangle 4">
            <a:extLst>
              <a:ext uri="{FF2B5EF4-FFF2-40B4-BE49-F238E27FC236}">
                <a16:creationId xmlns:a16="http://schemas.microsoft.com/office/drawing/2014/main" id="{401BEECF-59FE-55F5-A743-47342A5603A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80179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51574-DAF4-F516-0EBC-C5FAA867D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4C709-EDAC-FB59-A1A6-1C448FBF8862}"/>
              </a:ext>
            </a:extLst>
          </p:cNvPr>
          <p:cNvSpPr>
            <a:spLocks noGrp="1"/>
          </p:cNvSpPr>
          <p:nvPr>
            <p:ph type="ctrTitle"/>
          </p:nvPr>
        </p:nvSpPr>
        <p:spPr>
          <a:xfrm>
            <a:off x="838200" y="806451"/>
            <a:ext cx="5745480" cy="1534414"/>
          </a:xfrm>
        </p:spPr>
        <p:txBody>
          <a:bodyPr/>
          <a:lstStyle/>
          <a:p>
            <a:r>
              <a:rPr lang="en-US" dirty="0"/>
              <a:t>Recommendations</a:t>
            </a:r>
          </a:p>
        </p:txBody>
      </p:sp>
      <p:sp>
        <p:nvSpPr>
          <p:cNvPr id="3" name="Subtitle 2">
            <a:extLst>
              <a:ext uri="{FF2B5EF4-FFF2-40B4-BE49-F238E27FC236}">
                <a16:creationId xmlns:a16="http://schemas.microsoft.com/office/drawing/2014/main" id="{EBC02929-90ED-AB0B-356A-B327552A89C3}"/>
              </a:ext>
            </a:extLst>
          </p:cNvPr>
          <p:cNvSpPr>
            <a:spLocks noGrp="1"/>
          </p:cNvSpPr>
          <p:nvPr>
            <p:ph type="body" sz="quarter" idx="15"/>
          </p:nvPr>
        </p:nvSpPr>
        <p:spPr>
          <a:xfrm>
            <a:off x="838200" y="2340865"/>
            <a:ext cx="9988296" cy="3710685"/>
          </a:xfrm>
        </p:spPr>
        <p:txBody>
          <a:bodyPr>
            <a:normAutofit/>
          </a:bodyPr>
          <a:lstStyle/>
          <a:p>
            <a:pPr marL="342900" lvl="0" indent="-342900" eaLnBrk="0" fontAlgn="base" hangingPunct="0">
              <a:lnSpc>
                <a:spcPct val="100000"/>
              </a:lnSpc>
              <a:spcBef>
                <a:spcPct val="0"/>
              </a:spcBef>
              <a:spcAft>
                <a:spcPct val="0"/>
              </a:spcAft>
              <a:buClrTx/>
              <a:buSzTx/>
              <a:buFontTx/>
              <a:buChar char="•"/>
            </a:pPr>
            <a:r>
              <a:rPr lang="en-US" altLang="en-US" dirty="0"/>
              <a:t>Continue structured donor data collection</a:t>
            </a:r>
          </a:p>
          <a:p>
            <a:pPr marL="342900" lvl="0" indent="-342900" eaLnBrk="0" fontAlgn="base" hangingPunct="0">
              <a:lnSpc>
                <a:spcPct val="100000"/>
              </a:lnSpc>
              <a:spcBef>
                <a:spcPct val="0"/>
              </a:spcBef>
              <a:spcAft>
                <a:spcPct val="0"/>
              </a:spcAft>
              <a:buClrTx/>
              <a:buSzTx/>
              <a:buFontTx/>
              <a:buChar char="•"/>
            </a:pPr>
            <a:r>
              <a:rPr lang="en-US" altLang="en-US" dirty="0"/>
              <a:t>Validate models with future datasets</a:t>
            </a:r>
          </a:p>
          <a:p>
            <a:pPr marL="342900" lvl="0" indent="-342900" eaLnBrk="0" fontAlgn="base" hangingPunct="0">
              <a:lnSpc>
                <a:spcPct val="100000"/>
              </a:lnSpc>
              <a:spcBef>
                <a:spcPct val="0"/>
              </a:spcBef>
              <a:spcAft>
                <a:spcPct val="0"/>
              </a:spcAft>
              <a:buClrTx/>
              <a:buSzTx/>
              <a:buFontTx/>
              <a:buChar char="•"/>
            </a:pPr>
            <a:r>
              <a:rPr lang="en-US" altLang="en-US" dirty="0"/>
              <a:t>Apply insights to retention campaigns</a:t>
            </a:r>
          </a:p>
          <a:p>
            <a:pPr marL="342900" lvl="0" indent="-342900" eaLnBrk="0" fontAlgn="base" hangingPunct="0">
              <a:lnSpc>
                <a:spcPct val="100000"/>
              </a:lnSpc>
              <a:spcBef>
                <a:spcPct val="0"/>
              </a:spcBef>
              <a:spcAft>
                <a:spcPct val="0"/>
              </a:spcAft>
              <a:buClrTx/>
              <a:buSzTx/>
              <a:buFontTx/>
              <a:buChar char="•"/>
            </a:pPr>
            <a:r>
              <a:rPr lang="en-US" altLang="en-US" dirty="0"/>
              <a:t>Maintain transparent, ethical data practices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a:p>
            <a:r>
              <a:rPr lang="en-US" sz="2400" dirty="0"/>
              <a:t>(Sargeant &amp; Woodliffe, 2007; </a:t>
            </a:r>
            <a:r>
              <a:rPr lang="en-US" sz="2400" dirty="0" err="1"/>
              <a:t>Cozzoli</a:t>
            </a:r>
            <a:r>
              <a:rPr lang="en-US" sz="2400" dirty="0"/>
              <a:t> et al., 2022)</a:t>
            </a:r>
          </a:p>
        </p:txBody>
      </p:sp>
      <p:sp>
        <p:nvSpPr>
          <p:cNvPr id="5" name="Rectangle 2">
            <a:extLst>
              <a:ext uri="{FF2B5EF4-FFF2-40B4-BE49-F238E27FC236}">
                <a16:creationId xmlns:a16="http://schemas.microsoft.com/office/drawing/2014/main" id="{78B59C12-4C19-9AFF-0114-953432DC9EB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4672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21FA-4C08-FB63-788F-02213ED2A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8787E-D7B6-2B2C-8C56-353EF40B568E}"/>
              </a:ext>
            </a:extLst>
          </p:cNvPr>
          <p:cNvSpPr>
            <a:spLocks noGrp="1"/>
          </p:cNvSpPr>
          <p:nvPr>
            <p:ph type="title"/>
          </p:nvPr>
        </p:nvSpPr>
        <p:spPr>
          <a:xfrm>
            <a:off x="701040" y="345187"/>
            <a:ext cx="10512551" cy="806957"/>
          </a:xfrm>
        </p:spPr>
        <p:txBody>
          <a:bodyPr/>
          <a:lstStyle/>
          <a:p>
            <a:r>
              <a:rPr lang="en-US" dirty="0"/>
              <a:t>References</a:t>
            </a:r>
          </a:p>
        </p:txBody>
      </p:sp>
      <p:sp>
        <p:nvSpPr>
          <p:cNvPr id="18" name="Slide Number Placeholder 17">
            <a:extLst>
              <a:ext uri="{FF2B5EF4-FFF2-40B4-BE49-F238E27FC236}">
                <a16:creationId xmlns:a16="http://schemas.microsoft.com/office/drawing/2014/main" id="{4EE76DB1-08E3-0928-A64E-63E8ADD5BCC0}"/>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10</a:t>
            </a:fld>
            <a:endParaRPr lang="en-US"/>
          </a:p>
        </p:txBody>
      </p:sp>
      <p:sp>
        <p:nvSpPr>
          <p:cNvPr id="13" name="Content Placeholder 2">
            <a:extLst>
              <a:ext uri="{FF2B5EF4-FFF2-40B4-BE49-F238E27FC236}">
                <a16:creationId xmlns:a16="http://schemas.microsoft.com/office/drawing/2014/main" id="{90C3D131-4DBC-623B-4373-5087EF2F680D}"/>
              </a:ext>
            </a:extLst>
          </p:cNvPr>
          <p:cNvSpPr txBox="1">
            <a:spLocks/>
          </p:cNvSpPr>
          <p:nvPr/>
        </p:nvSpPr>
        <p:spPr>
          <a:xfrm>
            <a:off x="701040" y="1152145"/>
            <a:ext cx="11003280" cy="5084064"/>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1000"/>
              </a:spcBef>
              <a:buClr>
                <a:schemeClr val="tx2">
                  <a:lumMod val="10000"/>
                  <a:lumOff val="90000"/>
                </a:schemeClr>
              </a:buClr>
              <a:buSzPct val="80000"/>
              <a:buFont typeface="Wingdings" panose="05000000000000000000" pitchFamily="2" charset="2"/>
              <a:buNone/>
              <a:defRPr sz="20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indent="-457200" eaLnBrk="0" fontAlgn="base" hangingPunct="0">
              <a:lnSpc>
                <a:spcPct val="200000"/>
              </a:lnSpc>
              <a:spcBef>
                <a:spcPct val="0"/>
              </a:spcBef>
              <a:spcAft>
                <a:spcPct val="0"/>
              </a:spcAft>
              <a:buClrTx/>
              <a:buSzTx/>
            </a:pPr>
            <a:r>
              <a:rPr lang="en-US" sz="1800" dirty="0"/>
              <a:t>Association of Fundraising Professionals. (2023). </a:t>
            </a:r>
            <a:r>
              <a:rPr lang="en-US" sz="1800" i="1" dirty="0"/>
              <a:t>Code of ethical standards.</a:t>
            </a:r>
            <a:br>
              <a:rPr lang="en-US" sz="1800" dirty="0"/>
            </a:br>
            <a:r>
              <a:rPr lang="en-US" sz="1800" dirty="0"/>
              <a:t>Bekkers, R., &amp; </a:t>
            </a:r>
            <a:r>
              <a:rPr lang="en-US" sz="1800" dirty="0" err="1"/>
              <a:t>Wiepking</a:t>
            </a:r>
            <a:r>
              <a:rPr lang="en-US" sz="1800" dirty="0"/>
              <a:t>, P. (2011). </a:t>
            </a:r>
            <a:r>
              <a:rPr lang="en-US" sz="1800" i="1" dirty="0"/>
              <a:t>Nonprofit and Voluntary Sector Quarterly, 40</a:t>
            </a:r>
            <a:r>
              <a:rPr lang="en-US" sz="1800" dirty="0"/>
              <a:t>(5), 924–973.</a:t>
            </a:r>
            <a:br>
              <a:rPr lang="en-US" sz="1800" dirty="0"/>
            </a:br>
            <a:r>
              <a:rPr lang="en-US" sz="1800" dirty="0"/>
              <a:t>Breeze, B. (2017). </a:t>
            </a:r>
            <a:r>
              <a:rPr lang="en-US" sz="1800" i="1" dirty="0"/>
              <a:t>The new fundraisers: Who </a:t>
            </a:r>
            <a:r>
              <a:rPr lang="en-US" sz="1800" i="1" dirty="0" err="1"/>
              <a:t>organises</a:t>
            </a:r>
            <a:r>
              <a:rPr lang="en-US" sz="1800" i="1" dirty="0"/>
              <a:t> charitable giving in contemporary society?</a:t>
            </a:r>
            <a:r>
              <a:rPr lang="en-US" sz="1800" dirty="0"/>
              <a:t> Policy Press.</a:t>
            </a:r>
            <a:br>
              <a:rPr lang="en-US" sz="1800" dirty="0"/>
            </a:br>
            <a:r>
              <a:rPr lang="en-US" sz="1800" dirty="0" err="1"/>
              <a:t>Cozzoli</a:t>
            </a:r>
            <a:r>
              <a:rPr lang="en-US" sz="1800" dirty="0"/>
              <a:t>, N., </a:t>
            </a:r>
            <a:r>
              <a:rPr lang="en-US" sz="1800" dirty="0" err="1"/>
              <a:t>Spelta</a:t>
            </a:r>
            <a:r>
              <a:rPr lang="en-US" sz="1800" dirty="0"/>
              <a:t>, A., &amp; Russo, G. (2022). </a:t>
            </a:r>
            <a:r>
              <a:rPr lang="en-US" sz="1800" i="1" dirty="0"/>
              <a:t>Journal of Data Science and Analytics, 9</a:t>
            </a:r>
            <a:r>
              <a:rPr lang="en-US" sz="1800" dirty="0"/>
              <a:t>(4), 201–219.</a:t>
            </a:r>
            <a:br>
              <a:rPr lang="en-US" sz="1800" dirty="0"/>
            </a:br>
            <a:r>
              <a:rPr lang="en-US" sz="1800" dirty="0"/>
              <a:t>Polonsky, M. J., &amp; Waller, D. S. (2018). </a:t>
            </a:r>
            <a:r>
              <a:rPr lang="en-US" sz="1800" i="1" dirty="0"/>
              <a:t>Designing and managing a research project: A business student’s guide.</a:t>
            </a:r>
            <a:r>
              <a:rPr lang="en-US" sz="1800" dirty="0"/>
              <a:t> SAGE Publications.</a:t>
            </a:r>
            <a:br>
              <a:rPr lang="en-US" sz="1800" dirty="0"/>
            </a:br>
            <a:r>
              <a:rPr lang="en-US" sz="1800" dirty="0"/>
              <a:t>Rudin, C. (2019). </a:t>
            </a:r>
            <a:r>
              <a:rPr lang="en-US" sz="1800" i="1" dirty="0"/>
              <a:t>Nature Machine Intelligence, 1</a:t>
            </a:r>
            <a:r>
              <a:rPr lang="en-US" sz="1800" dirty="0"/>
              <a:t>(5), 206–215.</a:t>
            </a:r>
            <a:br>
              <a:rPr lang="en-US" sz="1800" dirty="0"/>
            </a:br>
            <a:r>
              <a:rPr lang="en-US" sz="1800" dirty="0"/>
              <a:t>Sargeant, A., &amp; Woodliffe, L. (2007). </a:t>
            </a:r>
            <a:r>
              <a:rPr lang="en-US" sz="1800" i="1" dirty="0"/>
              <a:t>Journal of Nonprofit &amp; Public Sector Marketing, 18</a:t>
            </a:r>
            <a:r>
              <a:rPr lang="en-US" sz="1800" dirty="0"/>
              <a:t>(2), 47–68.</a:t>
            </a:r>
            <a:br>
              <a:rPr lang="en-US" sz="1800" dirty="0"/>
            </a:br>
            <a:r>
              <a:rPr lang="en-US" sz="1800" dirty="0"/>
              <a:t>Williams, T., &amp; Nguyen, H. (2021). </a:t>
            </a:r>
            <a:r>
              <a:rPr lang="en-US" sz="1800" i="1" dirty="0"/>
              <a:t>Nonprofit and Voluntary Sector Quarterly, 50</a:t>
            </a:r>
            <a:r>
              <a:rPr lang="en-US" sz="1800" dirty="0"/>
              <a:t>(6), 1254–1272.</a:t>
            </a:r>
            <a:br>
              <a:rPr lang="en-US" sz="1800" dirty="0"/>
            </a:br>
            <a:r>
              <a:rPr lang="en-US" sz="1800" dirty="0"/>
              <a:t>Zhang, L., &amp; Ghosh, D. (2020). </a:t>
            </a:r>
            <a:r>
              <a:rPr lang="en-US" sz="1800" i="1" dirty="0"/>
              <a:t>Journal of Computational Statistics, 28</a:t>
            </a:r>
            <a:r>
              <a:rPr lang="en-US" sz="1800" dirty="0"/>
              <a:t>(2), 215–229.</a:t>
            </a:r>
            <a:endParaRPr lang="en-US" altLang="en-US" sz="1800" dirty="0"/>
          </a:p>
        </p:txBody>
      </p:sp>
      <p:sp>
        <p:nvSpPr>
          <p:cNvPr id="25" name="Rectangle 7">
            <a:extLst>
              <a:ext uri="{FF2B5EF4-FFF2-40B4-BE49-F238E27FC236}">
                <a16:creationId xmlns:a16="http://schemas.microsoft.com/office/drawing/2014/main" id="{5200A1E4-4363-8A98-72F4-ED3AC6CCBE2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3866545"/>
      </p:ext>
    </p:extLst>
  </p:cSld>
  <p:clrMapOvr>
    <a:masterClrMapping/>
  </p:clrMapOvr>
</p:sld>
</file>

<file path=ppt/theme/theme1.xml><?xml version="1.0" encoding="utf-8"?>
<a:theme xmlns:a="http://schemas.openxmlformats.org/drawingml/2006/main" name="LuminousVTI">
  <a:themeElements>
    <a:clrScheme name="Custom 54">
      <a:dk1>
        <a:sysClr val="windowText" lastClr="000000"/>
      </a:dk1>
      <a:lt1>
        <a:sysClr val="window" lastClr="FFFFFF"/>
      </a:lt1>
      <a:dk2>
        <a:srgbClr val="201449"/>
      </a:dk2>
      <a:lt2>
        <a:srgbClr val="EEEEEE"/>
      </a:lt2>
      <a:accent1>
        <a:srgbClr val="F900A0"/>
      </a:accent1>
      <a:accent2>
        <a:srgbClr val="4D4EE6"/>
      </a:accent2>
      <a:accent3>
        <a:srgbClr val="454B78"/>
      </a:accent3>
      <a:accent4>
        <a:srgbClr val="A3A3C1"/>
      </a:accent4>
      <a:accent5>
        <a:srgbClr val="7162FE"/>
      </a:accent5>
      <a:accent6>
        <a:srgbClr val="1EBE9B"/>
      </a:accent6>
      <a:hlink>
        <a:srgbClr val="F900A0"/>
      </a:hlink>
      <a:folHlink>
        <a:srgbClr val="8477FE"/>
      </a:folHlink>
    </a:clrScheme>
    <a:fontScheme name="Custom 51">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887BEC-12B5-41C3-87A8-94840B217273}">
  <ds:schemaRefs>
    <ds:schemaRef ds:uri="http://schemas.microsoft.com/sharepoint/v3/contenttype/forms"/>
  </ds:schemaRefs>
</ds:datastoreItem>
</file>

<file path=customXml/itemProps2.xml><?xml version="1.0" encoding="utf-8"?>
<ds:datastoreItem xmlns:ds="http://schemas.openxmlformats.org/officeDocument/2006/customXml" ds:itemID="{7A22E404-1C8D-48DE-80FC-4CA5DFE37C3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C4F9A873-407D-42B0-99B8-A577ED76CA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_LuminousVTI</Template>
  <TotalTime>1414</TotalTime>
  <Words>1525</Words>
  <Application>Microsoft Macintosh PowerPoint</Application>
  <PresentationFormat>Widescreen</PresentationFormat>
  <Paragraphs>87</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Avenir Next LT Pro</vt:lpstr>
      <vt:lpstr>Calibri</vt:lpstr>
      <vt:lpstr>Cambria</vt:lpstr>
      <vt:lpstr>Sabon Next LT</vt:lpstr>
      <vt:lpstr>Wingdings</vt:lpstr>
      <vt:lpstr>LuminousVTI</vt:lpstr>
      <vt:lpstr>Predictive Donor Modeling for the Colorado Mesa University Foundation</vt:lpstr>
      <vt:lpstr>Abstract / Overview</vt:lpstr>
      <vt:lpstr>Project Objectives</vt:lpstr>
      <vt:lpstr>Dataset and Methodology</vt:lpstr>
      <vt:lpstr>Logistic Regression Model</vt:lpstr>
      <vt:lpstr>Random Forest Model</vt:lpstr>
      <vt:lpstr>Predictive Findings</vt:lpstr>
      <vt:lpstr>Ethical and Technological Considerations</vt:lpstr>
      <vt:lpstr>Recommendations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Jenny Pudlewski</cp:lastModifiedBy>
  <cp:revision>3</cp:revision>
  <dcterms:created xsi:type="dcterms:W3CDTF">2025-11-01T21:48:45Z</dcterms:created>
  <dcterms:modified xsi:type="dcterms:W3CDTF">2025-11-02T21:23:41Z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